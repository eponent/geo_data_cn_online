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11eaff96f4659" /><Relationship Type="http://schemas.openxmlformats.org/officeDocument/2006/relationships/extended-properties" Target="/docProps/app.xml" Id="Rebdabd848cca47b2" /><Relationship Type="http://schemas.openxmlformats.org/officeDocument/2006/relationships/officeDocument" Target="/ppt/presentation.xml" Id="R1626444f44e743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fea9a12afe49f8"/>
  </p:sldMasterIdLst>
  <p:notesMasterIdLst>
    <p:notesMasterId xmlns:r="http://schemas.openxmlformats.org/officeDocument/2006/relationships" r:id="R931e718669fc4ad2"/>
  </p:notesMasterIdLst>
  <p:sldIdLst>
    <p:sldId xmlns:r="http://schemas.openxmlformats.org/officeDocument/2006/relationships" id="256" r:id="R11258d2d5b784483"/>
    <p:sldId xmlns:r="http://schemas.openxmlformats.org/officeDocument/2006/relationships" id="257" r:id="R4df94b75e49e456a"/>
    <p:sldId xmlns:r="http://schemas.openxmlformats.org/officeDocument/2006/relationships" id="258" r:id="R31ebf969e23a4cdc"/>
    <p:sldId xmlns:r="http://schemas.openxmlformats.org/officeDocument/2006/relationships" id="259" r:id="R3c5a8de68dca40f5"/>
    <p:sldId xmlns:r="http://schemas.openxmlformats.org/officeDocument/2006/relationships" id="260" r:id="R3c86216672df4a98"/>
    <p:sldId xmlns:r="http://schemas.openxmlformats.org/officeDocument/2006/relationships" id="261" r:id="R8e719730828d46d5"/>
    <p:sldId xmlns:r="http://schemas.openxmlformats.org/officeDocument/2006/relationships" id="262" r:id="R329d0eb9a2564cd9"/>
    <p:sldId xmlns:r="http://schemas.openxmlformats.org/officeDocument/2006/relationships" id="263" r:id="Rd34d3af034434154"/>
    <p:sldId xmlns:r="http://schemas.openxmlformats.org/officeDocument/2006/relationships" id="264" r:id="R8d8bdd99250a4a8b"/>
    <p:sldId xmlns:r="http://schemas.openxmlformats.org/officeDocument/2006/relationships" id="265" r:id="Rf2ebbb74ee8147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fd7b62a6704dba" /><Relationship Type="http://schemas.openxmlformats.org/officeDocument/2006/relationships/slideMaster" Target="/ppt/slideMasters/slideMaster1.xml" Id="R70fea9a12afe49f8" /><Relationship Type="http://schemas.openxmlformats.org/officeDocument/2006/relationships/notesMaster" Target="/ppt/notesMasters/notesMaster1.xml" Id="R931e718669fc4ad2" /><Relationship Type="http://schemas.openxmlformats.org/officeDocument/2006/relationships/presProps" Target="/ppt/presProps.xml" Id="R721e05680d6949bb" /><Relationship Type="http://schemas.openxmlformats.org/officeDocument/2006/relationships/tableStyles" Target="/ppt/tableStyles.xml" Id="R4d66a973333f40d8" /><Relationship Type="http://schemas.openxmlformats.org/officeDocument/2006/relationships/slide" Target="/ppt/slides/slide1.xml" Id="R11258d2d5b784483" /><Relationship Type="http://schemas.openxmlformats.org/officeDocument/2006/relationships/slide" Target="/ppt/slides/slide2.xml" Id="R4df94b75e49e456a" /><Relationship Type="http://schemas.openxmlformats.org/officeDocument/2006/relationships/slide" Target="/ppt/slides/slide3.xml" Id="R31ebf969e23a4cdc" /><Relationship Type="http://schemas.openxmlformats.org/officeDocument/2006/relationships/slide" Target="/ppt/slides/slide4.xml" Id="R3c5a8de68dca40f5" /><Relationship Type="http://schemas.openxmlformats.org/officeDocument/2006/relationships/slide" Target="/ppt/slides/slide5.xml" Id="R3c86216672df4a98" /><Relationship Type="http://schemas.openxmlformats.org/officeDocument/2006/relationships/slide" Target="/ppt/slides/slide6.xml" Id="R8e719730828d46d5" /><Relationship Type="http://schemas.openxmlformats.org/officeDocument/2006/relationships/slide" Target="/ppt/slides/slide7.xml" Id="R329d0eb9a2564cd9" /><Relationship Type="http://schemas.openxmlformats.org/officeDocument/2006/relationships/slide" Target="/ppt/slides/slide8.xml" Id="Rd34d3af034434154" /><Relationship Type="http://schemas.openxmlformats.org/officeDocument/2006/relationships/slide" Target="/ppt/slides/slide9.xml" Id="R8d8bdd99250a4a8b" /><Relationship Type="http://schemas.openxmlformats.org/officeDocument/2006/relationships/slide" Target="/ppt/slides/slide10.xml" Id="Rf2ebbb74ee8147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0aae25ee4341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264dee79ac4b04" /><Relationship Type="http://schemas.openxmlformats.org/officeDocument/2006/relationships/notesMaster" Target="/ppt/notesMasters/notesMaster1.xml" Id="R2693982de87c4d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1c874c126d4912" /><Relationship Type="http://schemas.openxmlformats.org/officeDocument/2006/relationships/notesMaster" Target="/ppt/notesMasters/notesMaster1.xml" Id="R8a21830dd4b849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3d72286f664941" /><Relationship Type="http://schemas.openxmlformats.org/officeDocument/2006/relationships/notesMaster" Target="/ppt/notesMasters/notesMaster1.xml" Id="Rb2510eba06a54b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ce25fdfd884414" /><Relationship Type="http://schemas.openxmlformats.org/officeDocument/2006/relationships/notesMaster" Target="/ppt/notesMasters/notesMaster1.xml" Id="Rac00170246c444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271a2b2c224ea8" /><Relationship Type="http://schemas.openxmlformats.org/officeDocument/2006/relationships/notesMaster" Target="/ppt/notesMasters/notesMaster1.xml" Id="R3798e51eb9c74e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d96c136f744ae0" /><Relationship Type="http://schemas.openxmlformats.org/officeDocument/2006/relationships/notesMaster" Target="/ppt/notesMasters/notesMaster1.xml" Id="Re84fbbb4507447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c7874ddd4341d4" /><Relationship Type="http://schemas.openxmlformats.org/officeDocument/2006/relationships/notesMaster" Target="/ppt/notesMasters/notesMaster1.xml" Id="Rba0e97b4947b4e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8803f3416241d0" /><Relationship Type="http://schemas.openxmlformats.org/officeDocument/2006/relationships/notesMaster" Target="/ppt/notesMasters/notesMaster1.xml" Id="R908094bf8bb44d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0e4376a5de4ca5" /><Relationship Type="http://schemas.openxmlformats.org/officeDocument/2006/relationships/notesMaster" Target="/ppt/notesMasters/notesMaster1.xml" Id="R9c5f64999f9742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6627b26d364cb9" /><Relationship Type="http://schemas.openxmlformats.org/officeDocument/2006/relationships/notesMaster" Target="/ppt/notesMasters/notesMaster1.xml" Id="Rb0466d6bb12d4e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2026-09-10。本报告描述在大中华区缓存日志中被观察到的用户，不代表 Geocaching 全部注册用户。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2026-09-10。年度口径为在大中华区缓存日志中被观察到、且注册日期已知的用户。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2026-09-10。日均值按各观察窗口总人数除以窗口天数计算。2023 发布前 30 天、发布后 7 天；2025 发布前 7 天、高播放合并窗口 8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2026-09-10。对象为 2025-08-06 至 08-13 注册且 reg_place=China 的 D30 成熟用户；对照为相邻月份。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2026-09-10。视频窗口新人失败样本 218 人；相邻月份 65 人。可比较的恢复记录中，视频窗口 87 人里 80 人通过其他缓存恢复。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2026-09-10。China 用户总体成熟样本。M12 指注册后第 360–389 天在大中华区缓存上至少一次有效参与。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2026-09-10。年度生命周期结构按注册后前 90 天 Found it 深度汇总，仅用于描述结构。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2026-09-10。本页为基于行为证据形成的运营建议，不代表已验证的因果效果。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2026-09-10。reg_place 是分析归属，不代表居住地；所有视频结论属于观察性证据。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8560f06124b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c571b3183746bd" /><Relationship Type="http://schemas.openxmlformats.org/officeDocument/2006/relationships/slideLayout" Target="/ppt/slideLayouts/slideLayout1.xml" Id="R91a9cc2636a6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a9cc2636a6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bcb852b314b11" /><Relationship Type="http://schemas.openxmlformats.org/officeDocument/2006/relationships/notesSlide" Target="/ppt/notesSlides/notesSlide1.xml" Id="R546fe189de8f41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c494eb06e46b1" /><Relationship Type="http://schemas.openxmlformats.org/officeDocument/2006/relationships/notesSlide" Target="/ppt/notesSlides/notesSlide2.xml" Id="R27559b4cc2da47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2a9ea99504e5b" /><Relationship Type="http://schemas.openxmlformats.org/officeDocument/2006/relationships/chart" Target="/ppt/slides/charts/chart1.xml" Id="R30493b22f90c49fb" /><Relationship Type="http://schemas.openxmlformats.org/officeDocument/2006/relationships/notesSlide" Target="/ppt/notesSlides/notesSlide3.xml" Id="R613ed74d189049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2df9cbe844c88" /><Relationship Type="http://schemas.openxmlformats.org/officeDocument/2006/relationships/chart" Target="/ppt/slides/charts/chart2.xml" Id="R9bcca2c8186c49e6" /><Relationship Type="http://schemas.openxmlformats.org/officeDocument/2006/relationships/notesSlide" Target="/ppt/notesSlides/notesSlide4.xml" Id="Rc8d323f593174e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80261722a45b8" /><Relationship Type="http://schemas.openxmlformats.org/officeDocument/2006/relationships/chart" Target="/ppt/slides/charts/chart3.xml" Id="Rab704d367197401b" /><Relationship Type="http://schemas.openxmlformats.org/officeDocument/2006/relationships/notesSlide" Target="/ppt/notesSlides/notesSlide5.xml" Id="R1c141d3dc39d42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9f3692eb14fec" /><Relationship Type="http://schemas.openxmlformats.org/officeDocument/2006/relationships/chart" Target="/ppt/slides/charts/chart4.xml" Id="R226107419c1e4f48" /><Relationship Type="http://schemas.openxmlformats.org/officeDocument/2006/relationships/notesSlide" Target="/ppt/notesSlides/notesSlide6.xml" Id="R81611df1bc9141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0a030776845e9" /><Relationship Type="http://schemas.openxmlformats.org/officeDocument/2006/relationships/chart" Target="/ppt/slides/charts/chart5.xml" Id="Re670b482cb694b0b" /><Relationship Type="http://schemas.openxmlformats.org/officeDocument/2006/relationships/notesSlide" Target="/ppt/notesSlides/notesSlide7.xml" Id="Re6512451ef4f41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b0aa00e1842c2" /><Relationship Type="http://schemas.openxmlformats.org/officeDocument/2006/relationships/chart" Target="/ppt/slides/charts/chart6.xml" Id="Rb479f2132469419e" /><Relationship Type="http://schemas.openxmlformats.org/officeDocument/2006/relationships/notesSlide" Target="/ppt/notesSlides/notesSlide8.xml" Id="R816aead5c73b47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86c87fb214377" /><Relationship Type="http://schemas.openxmlformats.org/officeDocument/2006/relationships/notesSlide" Target="/ppt/notesSlides/notesSlide9.xml" Id="R99b5715bdc144a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bb4e7c1ca43aa" /><Relationship Type="http://schemas.openxmlformats.org/officeDocument/2006/relationships/notesSlide" Target="/ppt/notesSlides/notesSlide10.xml" Id="R5a38a01f1126432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可观察用户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2510</c:v>
                </c:pt>
                <c:pt idx="1">
                  <c:v>4478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日均观察用户</c:v>
          </c:tx>
          <c:spPr>
            <a:solidFill xmlns:a="http://schemas.openxmlformats.org/drawingml/2006/main">
              <a:srgbClr val="2F9C9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2023 发布前</c:v>
                </c:pt>
                <c:pt idx="1">
                  <c:v>2023 发布后</c:v>
                </c:pt>
                <c:pt idx="2">
                  <c:v>2025 发布前</c:v>
                </c:pt>
                <c:pt idx="3">
                  <c:v>2025 高播放窗口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5.1</c:v>
                </c:pt>
                <c:pt idx="1">
                  <c:v>35.1</c:v>
                </c:pt>
                <c:pt idx="2">
                  <c:v>7.7</c:v>
                </c:pt>
                <c:pt idx="3">
                  <c:v>77.9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58A3A"/>
            </a:solidFill>
          </c:spPr>
          <c:cat>
            <c:strRef>
              <c:f>'Chart Data'!$A$2:$A$6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0.826</c:v>
                </c:pt>
                <c:pt idx="1">
                  <c:v>0.56</c:v>
                </c:pt>
                <c:pt idx="2">
                  <c:v>0.136</c:v>
                </c:pt>
                <c:pt idx="3">
                  <c:v>0.068</c:v>
                </c:pt>
                <c:pt idx="4">
                  <c:v>0.021</c:v>
                </c:pt>
              </c:numCache>
            </c:numRef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Data'!$C$2:$C$6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0.751</c:v>
                </c:pt>
                <c:pt idx="1">
                  <c:v>0.628</c:v>
                </c:pt>
                <c:pt idx="2">
                  <c:v>0.173</c:v>
                </c:pt>
                <c:pt idx="3">
                  <c:v>0.126</c:v>
                </c:pt>
                <c:pt idx="4">
                  <c:v>0.047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首次 DNF 后 30 天内恢复</c:v>
          </c:tx>
          <c:spPr>
            <a:solidFill xmlns:a="http://schemas.openxmlformats.org/drawingml/2006/main">
              <a:srgbClr val="C94C4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6B8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视频窗口</c:v>
                </c:pt>
                <c:pt idx="1">
                  <c:v>相邻月份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0.358</c:v>
                </c:pt>
                <c:pt idx="1">
                  <c:v>0.538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M12 活跃率</c:v>
          </c:tx>
          <c:spPr>
            <a:solidFill xmlns:a="http://schemas.openxmlformats.org/drawingml/2006/main">
              <a:srgbClr val="176B87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0 找</c:v>
                </c:pt>
                <c:pt idx="1">
                  <c:v>1–9 找</c:v>
                </c:pt>
                <c:pt idx="2">
                  <c:v>10+ 找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0.042</c:v>
                </c:pt>
                <c:pt idx="1">
                  <c:v>0.034</c:v>
                </c:pt>
                <c:pt idx="2">
                  <c:v>0.218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0 找</c:v>
          </c:tx>
          <c:spPr>
            <a:solidFill xmlns:a="http://schemas.openxmlformats.org/drawingml/2006/main">
              <a:srgbClr val="A8B2BE"/>
            </a:solidFill>
          </c:spPr>
          <c:cat>
            <c:numRef>
              <c:f>'Chart Data'!$A$2:$A$3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0.311</c:v>
                </c:pt>
                <c:pt idx="1">
                  <c:v>0.232</c:v>
                </c:pt>
              </c:numCache>
            </c:numRef>
          </c:val>
        </c:ser>
        <c:ser>
          <c:idx val="1"/>
          <c:order val="1"/>
          <c:tx>
            <c:v>1–9 找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Data'!$C$2:$C$3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0.602</c:v>
                </c:pt>
                <c:pt idx="1">
                  <c:v>0.672</c:v>
                </c:pt>
              </c:numCache>
            </c:numRef>
          </c:val>
        </c:ser>
        <c:ser>
          <c:idx val="2"/>
          <c:order val="2"/>
          <c:tx>
            <c:v>10+ 找</c:v>
          </c:tx>
          <c:spPr>
            <a:solidFill xmlns:a="http://schemas.openxmlformats.org/drawingml/2006/main">
              <a:srgbClr val="E58A3A"/>
            </a:solidFill>
          </c:spPr>
          <c:cat>
            <c:numRef>
              <c:f>'Chart Data'!$E$2:$E$3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0.087</c:v>
                </c:pt>
                <c:pt idx="1">
                  <c:v>0.096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F1099-81A7-4466-B260-3655F67B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884BD-4ED0-479D-9FE4-DEBE5E68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81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大中华区用户增长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42EA4-7DC8-4ADA-868B-2E980C1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rPr>
              <a:t>从流量涌入到持续参与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759A7-9C16-4929-B61F-06A42916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rPr>
              <a:t>Geocaching 用户行为与增长机会分析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2BAAE-4021-485F-ABA5-06904CC2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数据截止 2026-09-10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79989-6946-42FB-BCBD-A9510C39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管理层汇报</a:t>
            </a:r>
          </a:p>
        </p:txBody>
      </p:sp>
    </p:spTree>
    <p:extLst>
      <p:ext uri="{BB962C8B-B14F-4D97-AF65-F5344CB8AC3E}">
        <p14:creationId xmlns:p14="http://schemas.microsoft.com/office/powerpoint/2010/main" val="1905980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4C3D7-B55A-4FE4-BEAF-FCE958CC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4F784-BD43-4D43-A8C5-BEAE6256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管理层结论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89007-60AF-4742-92D9-00A78CED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增长入口已经得到验证，经营重点应转向新用户承接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B5B95-D7DF-4F0D-9C8F-FCFA6850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0141E-A577-4E77-B4A5-7EF6663C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02CB4-F52E-4162-BBD8-34AEAADC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BF178-74E0-483F-918E-BA0CA3BB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内容传播能够快速扩大入口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DE3C4-1B5E-43F8-B0B9-B7C96C61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两次高影响力视频都带来明显的中国用户涌入，说明外部内容是有效获客渠道。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72085-A3D8-49D2-B776-BCF2C82B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A242C-F16F-4E53-A45F-202C983A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E33B8-1D2B-4104-8521-880AC631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流量没有自然转化为长期参与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B795A-8BD1-416A-BF6F-15FD9FB8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视频用户愿意尝试，但首次成功、连续体验和后续活跃均弱于相邻时期。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8C2A3-DD8A-4B24-9835-326C2D5B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88508-A398-4EBE-AE8A-ED2C453C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BEAC3-EB89-41C6-91CD-68811EBC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早期深度比首找速度更重要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8A0CD-54C5-4D1B-A642-B0A23941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长期活跃与注册后完成多次寻宝高度相关，单纯追求注册当天首找价值有限。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9A704-791A-42F1-AEA2-3FE7ABFC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632D7-6612-4CAB-86A3-44A30BE3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6A5F9-1BA4-4323-99DC-E6AB9716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首次失败是最清晰的干预点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FD8E5-CFCE-4D71-84A1-20A6980D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只出现 DNF 的新用户最容易流失，恢复者通常通过另一个缓存获得成功。</a:t>
            </a:r>
          </a:p>
        </p:txBody>
      </p:sp>
    </p:spTree>
    <p:extLst>
      <p:ext uri="{BB962C8B-B14F-4D97-AF65-F5344CB8AC3E}">
        <p14:creationId xmlns:p14="http://schemas.microsoft.com/office/powerpoint/2010/main" val="141036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F47A7-879E-434D-8768-118E56AB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46EF9-53F2-4A88-AF43-E26E5BFB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可观察用户规模显著扩大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E7676-11C0-4311-839B-810E37C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 年增长伴随早期质量小幅改善，但不等于平台总注册增长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3AAB8-3B12-4E80-BF78-B767D92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2069B-38B7-437E-BFF9-AD5BE43B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493b22f90c49f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23EA2-9FEE-4A38-AAAA-99C6ED29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+78%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BF992-DE52-497D-AA7E-C292D273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较 2024 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B96D4-6A2B-438F-B313-49B6173A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68B9E-7858-4098-B009-6BC15F48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增长是真实的观察结果，但用户进入样本的前提是在大中华区留下日志。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87CAF-3492-4A9A-80B3-E2BF772C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</p:spTree>
    <p:extLst>
      <p:ext uri="{BB962C8B-B14F-4D97-AF65-F5344CB8AC3E}">
        <p14:creationId xmlns:p14="http://schemas.microsoft.com/office/powerpoint/2010/main" val="1519344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E4E9A-1C63-4BDA-9747-175939A2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4CB88-A304-4EDE-85BA-91C25CA4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头部视频带来强烈且中国用户占比高的流量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1B14C-2560-427E-841D-5D765595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发布后的日均观察用户远高于发布前，后续低播放内容未复制同等效果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235DF-1A65-4DD6-8255-970CB0CB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BF01C-1E05-43C6-9B03-78E3AA68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cca2c8186c49e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39738-6CCB-4543-90F0-611E298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发布窗口中的 China 用户占比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3ADA1-FD6A-48C4-8C26-8325DFE1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约 8 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83012-CBC7-4900-884C-BE68FB4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2023 与 2025 两次事件方向一致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28C1A-34CB-450A-BCEB-FCB7AE2D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时间吻合支持视频是重要来源，但现有数据不能排除转发和同期传播。</a:t>
            </a:r>
          </a:p>
        </p:txBody>
      </p:sp>
    </p:spTree>
    <p:extLst>
      <p:ext uri="{BB962C8B-B14F-4D97-AF65-F5344CB8AC3E}">
        <p14:creationId xmlns:p14="http://schemas.microsoft.com/office/powerpoint/2010/main" val="296252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27A44-8F3F-47D5-953C-64E70D4D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D1E26-00F8-421D-9765-870839BD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视频用户愿意行动，但没有顺利进入持续体验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16480-371B-4FD9-A26C-3EEF3C4A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主要损失发生在已经尝试之后，尤其是首次成功与多次寻找之间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7BBD8-8B7E-47E5-AAD9-116B45FB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49C9F-CA80-4B29-B088-00053596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704d367197401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28929-5ED4-499E-80F6-202893E3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流量规模扩大后，承接能力没有同步扩大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886E0-F861-458E-9991-B20D45A1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运营重点应放在首次成功和从 1 找进入连续体验。</a:t>
            </a:r>
          </a:p>
        </p:txBody>
      </p:sp>
    </p:spTree>
    <p:extLst>
      <p:ext uri="{BB962C8B-B14F-4D97-AF65-F5344CB8AC3E}">
        <p14:creationId xmlns:p14="http://schemas.microsoft.com/office/powerpoint/2010/main" val="1590591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12A5A-A5A2-4F8D-A1B0-9330751E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D8A5C-BF3D-4CCF-9BF7-2126CD08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首次失败后，恢复路径比失败本身更重要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400D1-2A4F-44DD-95FD-176F7E48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视频用户的 30 天恢复弱于相邻月份，成功恢复者通常选择另一个缓存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1A5F0-7413-4D13-B68E-761FDE05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144D5-D806-4D85-AF43-C4EAA156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6107419c1e4f4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E9E22-1478-4233-84FF-0E5B8068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恢复者中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2CBBF-3D68-475F-99E9-9AA5E377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绝大多数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7BC6F-20BE-4F15-8A73-AE8237B4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通过另一个缓存完成首次成功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F9869-29DD-4C8D-8FDE-DDD0DE99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79055-7B27-4519-B59B-BFB72CB5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产品含义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15076-CA0A-4675-AC59-7AC9EA6C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后优先推荐附近更容易、近期有人成功的替代缓存。</a:t>
            </a:r>
          </a:p>
        </p:txBody>
      </p:sp>
    </p:spTree>
    <p:extLst>
      <p:ext uri="{BB962C8B-B14F-4D97-AF65-F5344CB8AC3E}">
        <p14:creationId xmlns:p14="http://schemas.microsoft.com/office/powerpoint/2010/main" val="18687770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8ECC6-73BF-45C6-A47C-35A2FD67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19664-A12E-4F39-812C-AE5B6DFC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长期活跃与早期体验深度高度相关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C14FC-521E-4E18-96E4-1EEC2E03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注册后 30 天达到 10 找的用户，后续活跃明显高于浅层体验用户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13575-7174-44EE-83A8-CA217BE0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BC6A5-297E-4EB7-A21D-17D2C65F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70b482cb694b0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349C3-6DEE-4A77-9700-838379FA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最强行为信号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8B8F5-D825-4183-A481-94D6A346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早期完成多次寻宝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5A5E4-6584-4274-8F32-FAD8EDB2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这是一种行为关联，可能同时反映用户原本的兴趣强度，不能直接解释为因果。</a:t>
            </a:r>
          </a:p>
        </p:txBody>
      </p:sp>
    </p:spTree>
    <p:extLst>
      <p:ext uri="{BB962C8B-B14F-4D97-AF65-F5344CB8AC3E}">
        <p14:creationId xmlns:p14="http://schemas.microsoft.com/office/powerpoint/2010/main" val="11041277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4CD42-B209-41BD-A0BA-9555C3BA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88A44-CFA7-4DE9-B0EA-FAEFEED4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最大的经营机会集中在浅层体验用户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17227-E195-49C0-BEE2-5DA2CE2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多数成熟用户停留在 1–9 找，规模远大于完全未体验或已经形成深度习惯的人群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3CBE8-2CE4-4C7C-B1D6-1984A21A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F0B87-6044-4943-A485-4A7AAEA2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79f2132469419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71E34-42E2-49D8-814B-30423089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经营判断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9E976-36DC-4458-B885-E9267757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这批用户已经理解玩法，下一次行动的教育成本最低。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3C235-3400-4D3B-AADD-23A75ADC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适合用城市路线、阶段进度和附近推荐推动继续参与。</a:t>
            </a:r>
          </a:p>
        </p:txBody>
      </p:sp>
    </p:spTree>
    <p:extLst>
      <p:ext uri="{BB962C8B-B14F-4D97-AF65-F5344CB8AC3E}">
        <p14:creationId xmlns:p14="http://schemas.microsoft.com/office/powerpoint/2010/main" val="1826682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86754-6D76-4FBE-A1FE-E41F557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25AC9-FA59-4C4B-BA31-86305B2F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新用户承接模型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E0298-EEF2-4747-8B18-71CAFB5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将内容流量转化为可重复的新手体验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0B86B-74DB-4D0C-B3BC-E236ECE8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E91CB-DF44-426F-BC74-781D4BCF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DD161-AAE9-44CC-A485-6C527D08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93EF0-C665-4C0D-83C6-DDD55760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内容触达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BD70D-C1A8-473B-83B0-A1347D1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城市落地页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玩法预期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3A5F9-A013-4999-9BA0-5511451D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F209C-1B66-4926-8A61-850702DC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55667-C835-48E8-B317-1C846E1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首次尝试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BF069-6B30-4CD5-A535-1406FDD6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新手缓存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路线推荐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5C633-3360-4015-8947-10FA32B4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9A8FB-AC9F-4136-AA23-123C2FB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AC3F9-482B-4B53-AFD9-D7BDEEB6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首次成功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16F0F-2D06-42ED-8FEE-2760B151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DNF 救援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替代缓存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9C77B-0D52-4EE7-B50C-8428B095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33E01-79D9-418F-AB28-5F0B97A7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76EA6-E985-44F0-8DFC-C9771000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连续体验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15E87-05A8-4F5A-9B84-931D668E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 / 5 / 10 找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阶段进度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58312-8EE8-4F80-885F-13343E0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B2D34-501A-4B45-8C02-20C89834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3934D-CB7E-48D4-8214-7644001D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周期回归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3E932-D719-4701-98F0-85944C93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假期与天气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低频召回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EEAB9-E977-4442-907A-DF6AFE9F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9E0FB-487A-4701-AC51-78EE0352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核心原则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C4730B-7A5E-4717-AFC8-A014948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每一步只解决一个阻力：不知道怎么玩、第一次失败、缺少下一目标、长期没有合适时机。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74FD7-02CC-4CB5-B431-C81C2C1E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视频传播前准备承接内容，传播后重点监控首次尝试到首次成功的转化。</a:t>
            </a:r>
          </a:p>
        </p:txBody>
      </p:sp>
    </p:spTree>
    <p:extLst>
      <p:ext uri="{BB962C8B-B14F-4D97-AF65-F5344CB8AC3E}">
        <p14:creationId xmlns:p14="http://schemas.microsoft.com/office/powerpoint/2010/main" val="7355911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AB199-0F7D-4C48-9119-13CCE3C8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BC2A3-B2A4-4D61-B61F-7DD36D47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未来 90 天的管理议程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FB806-05FE-45F5-AE25-C97CDFFA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先修复转化断点，再决定是否扩大内容投放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835B9-5F89-4C00-AB33-33A7E8B4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28D5D-71E1-4458-8664-477F33D8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79C52-0BFD-4CC7-A8FC-B491A95C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2F30D-BB34-416D-A99B-30E8D8E7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具体动作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E25F9-7BC4-4D24-B7A0-1AA14D64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管理指标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039F1-C390-47B0-87D3-D659BB58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新手承接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45E77-81EC-4645-91B6-362CCFAA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建立重点城市的新手路线和可用缓存清单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180AB-0F1A-4D8B-9EE2-181C6E3E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首次成功率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06522-4462-46B5-AA12-1ED3A91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ABF6E-C993-4412-B3F9-C2708E10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FBC6D-97B7-4182-9A5D-131A1A6C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后推荐附近更容易的替代缓存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54CAB-5C75-49AC-AD21-2D98F614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30 天恢复率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4DCCC-58F3-4AA5-939F-ACAB5A2D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669D6-42AD-450D-ABA7-06840653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深度推进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450B8-365E-4240-90CC-4197EDED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为 1–9 找用户设计 3 / 5 / 10 找阶段任务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066B0-FC1E-4CC0-8E51-CBF3DFE1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00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早期深度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71ADF-9B01-47B8-9F05-C093BCA8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16B7E-3D58-41E4-B85D-81A01DA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渠道验证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216DE-955F-4351-B2CA-1EEB55E0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记录来源、内容曝光和推荐展示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B51C7-73F5-4E21-9217-3A4F1D2A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渠道质量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8077E-CBA4-4CF2-AECE-78427B95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113D1-8BE6-4AA9-85AC-F98ECCA4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决策边界：当前证据支持优先改善承接，但尚不足以计算视频渠道 ROI。</a:t>
            </a:r>
          </a:p>
        </p:txBody>
      </p:sp>
    </p:spTree>
    <p:extLst>
      <p:ext uri="{BB962C8B-B14F-4D97-AF65-F5344CB8AC3E}">
        <p14:creationId xmlns:p14="http://schemas.microsoft.com/office/powerpoint/2010/main" val="1162457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2026-09-12T07:54:41.7640000Z</dcterms:created>
  <dcterms:modified xsi:type="dcterms:W3CDTF">2026-09-12T07:54:41.7640000Z</dcterms:modified>
</coreProperties>
</file>