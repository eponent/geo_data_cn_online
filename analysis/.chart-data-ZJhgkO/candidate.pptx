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8aee64a7dd4dda" /><Relationship Type="http://schemas.openxmlformats.org/officeDocument/2006/relationships/extended-properties" Target="/docProps/app.xml" Id="R47fd84d8bbf34461" /><Relationship Type="http://schemas.openxmlformats.org/officeDocument/2006/relationships/officeDocument" Target="/ppt/presentation.xml" Id="R75d6c5c64ce1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a38a7ab494d49"/>
  </p:sldMasterIdLst>
  <p:notesMasterIdLst>
    <p:notesMasterId xmlns:r="http://schemas.openxmlformats.org/officeDocument/2006/relationships" r:id="Rd7c7e777b3874668"/>
  </p:notesMasterIdLst>
  <p:sldIdLst>
    <p:sldId xmlns:r="http://schemas.openxmlformats.org/officeDocument/2006/relationships" id="256" r:id="R0a936e788e8240fa"/>
    <p:sldId xmlns:r="http://schemas.openxmlformats.org/officeDocument/2006/relationships" id="257" r:id="Rb9d2adc5bf5f47b6"/>
    <p:sldId xmlns:r="http://schemas.openxmlformats.org/officeDocument/2006/relationships" id="258" r:id="R00cd4de2729244da"/>
    <p:sldId xmlns:r="http://schemas.openxmlformats.org/officeDocument/2006/relationships" id="259" r:id="R19a9aca4d2424c5b"/>
    <p:sldId xmlns:r="http://schemas.openxmlformats.org/officeDocument/2006/relationships" id="260" r:id="R0a9e1b0bd4c74992"/>
    <p:sldId xmlns:r="http://schemas.openxmlformats.org/officeDocument/2006/relationships" id="261" r:id="R1f0a086ffec64279"/>
    <p:sldId xmlns:r="http://schemas.openxmlformats.org/officeDocument/2006/relationships" id="262" r:id="R4a414e3d8f5a4d45"/>
    <p:sldId xmlns:r="http://schemas.openxmlformats.org/officeDocument/2006/relationships" id="263" r:id="R952f9917c8364fa3"/>
    <p:sldId xmlns:r="http://schemas.openxmlformats.org/officeDocument/2006/relationships" id="264" r:id="R0f923e48146d4e0e"/>
    <p:sldId xmlns:r="http://schemas.openxmlformats.org/officeDocument/2006/relationships" id="265" r:id="R1dec828da25b4c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5dfd88b3f24be6" /><Relationship Type="http://schemas.openxmlformats.org/officeDocument/2006/relationships/slideMaster" Target="/ppt/slideMasters/slideMaster1.xml" Id="R731a38a7ab494d49" /><Relationship Type="http://schemas.openxmlformats.org/officeDocument/2006/relationships/notesMaster" Target="/ppt/notesMasters/notesMaster1.xml" Id="Rd7c7e777b3874668" /><Relationship Type="http://schemas.openxmlformats.org/officeDocument/2006/relationships/presProps" Target="/ppt/presProps.xml" Id="R99076e20df3a4ccf" /><Relationship Type="http://schemas.openxmlformats.org/officeDocument/2006/relationships/tableStyles" Target="/ppt/tableStyles.xml" Id="R39589f2d2e1c4573" /><Relationship Type="http://schemas.openxmlformats.org/officeDocument/2006/relationships/slide" Target="/ppt/slides/slide1.xml" Id="R0a936e788e8240fa" /><Relationship Type="http://schemas.openxmlformats.org/officeDocument/2006/relationships/slide" Target="/ppt/slides/slide2.xml" Id="Rb9d2adc5bf5f47b6" /><Relationship Type="http://schemas.openxmlformats.org/officeDocument/2006/relationships/slide" Target="/ppt/slides/slide3.xml" Id="R00cd4de2729244da" /><Relationship Type="http://schemas.openxmlformats.org/officeDocument/2006/relationships/slide" Target="/ppt/slides/slide4.xml" Id="R19a9aca4d2424c5b" /><Relationship Type="http://schemas.openxmlformats.org/officeDocument/2006/relationships/slide" Target="/ppt/slides/slide5.xml" Id="R0a9e1b0bd4c74992" /><Relationship Type="http://schemas.openxmlformats.org/officeDocument/2006/relationships/slide" Target="/ppt/slides/slide6.xml" Id="R1f0a086ffec64279" /><Relationship Type="http://schemas.openxmlformats.org/officeDocument/2006/relationships/slide" Target="/ppt/slides/slide7.xml" Id="R4a414e3d8f5a4d45" /><Relationship Type="http://schemas.openxmlformats.org/officeDocument/2006/relationships/slide" Target="/ppt/slides/slide8.xml" Id="R952f9917c8364fa3" /><Relationship Type="http://schemas.openxmlformats.org/officeDocument/2006/relationships/slide" Target="/ppt/slides/slide9.xml" Id="R0f923e48146d4e0e" /><Relationship Type="http://schemas.openxmlformats.org/officeDocument/2006/relationships/slide" Target="/ppt/slides/slide10.xml" Id="R1dec828da25b4c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d3c98e5d948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8fb28f39d4be9" /><Relationship Type="http://schemas.openxmlformats.org/officeDocument/2006/relationships/notesMaster" Target="/ppt/notesMasters/notesMaster1.xml" Id="Rc30597fbbad3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74dee3e9c6458d" /><Relationship Type="http://schemas.openxmlformats.org/officeDocument/2006/relationships/notesMaster" Target="/ppt/notesMasters/notesMaster1.xml" Id="R76da2c46b323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bcdcc24e8549a7" /><Relationship Type="http://schemas.openxmlformats.org/officeDocument/2006/relationships/notesMaster" Target="/ppt/notesMasters/notesMaster1.xml" Id="Rc7fb52d355704f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331c8f389c4f8e" /><Relationship Type="http://schemas.openxmlformats.org/officeDocument/2006/relationships/notesMaster" Target="/ppt/notesMasters/notesMaster1.xml" Id="R511b97e6c1e4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200a6910664e0b" /><Relationship Type="http://schemas.openxmlformats.org/officeDocument/2006/relationships/notesMaster" Target="/ppt/notesMasters/notesMaster1.xml" Id="Ree52394420f84d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99a259ad4b4d34" /><Relationship Type="http://schemas.openxmlformats.org/officeDocument/2006/relationships/notesMaster" Target="/ppt/notesMasters/notesMaster1.xml" Id="Rada203ad0baf4f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5fd80da1b044e1" /><Relationship Type="http://schemas.openxmlformats.org/officeDocument/2006/relationships/notesMaster" Target="/ppt/notesMasters/notesMaster1.xml" Id="R790d9321d1b941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500959d2464bef" /><Relationship Type="http://schemas.openxmlformats.org/officeDocument/2006/relationships/notesMaster" Target="/ppt/notesMasters/notesMaster1.xml" Id="Rb4d58d856fad4d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431a9e4d024aac" /><Relationship Type="http://schemas.openxmlformats.org/officeDocument/2006/relationships/notesMaster" Target="/ppt/notesMasters/notesMaster1.xml" Id="R89a7d999526d42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778aa80a5e4416" /><Relationship Type="http://schemas.openxmlformats.org/officeDocument/2006/relationships/notesMaster" Target="/ppt/notesMasters/notesMaster1.xml" Id="Rdaa7d171a74a41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2026-09-10。本报告描述在大中华区缓存日志中被观察到的用户，不代表 Geocaching 全部注册用户。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2026-09-10。年度口径为在大中华区缓存日志中被观察到、且注册日期已知的用户。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2026-09-10。日均值按各观察窗口总人数除以窗口天数计算。2023 发布前 30 天、发布后 7 天；2025 发布前 7 天、高播放合并窗口 8 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2026-09-10。对象为 2025-08-06 至 08-13 注册且 reg_place=China 的 D30 成熟用户；对照为相邻月份。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2026-09-10。视频窗口新人失败样本 218 人；相邻月份 65 人。可比较的恢复记录中，视频窗口 87 人里 80 人通过其他缓存恢复。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2026-09-10。China 用户总体成熟样本。M12 指注册后第 360–389 天在大中华区缓存上至少一次有效参与。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2026-09-10。年度生命周期结构按注册后前 90 天 Found it 深度汇总，仅用于描述结构。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2026-09-10。本页为基于行为证据形成的运营建议，不代表已验证的因果效果。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数据来源：analysis/cohort-dashboard/cohort-dashboard-data.json，数据截止 2026-09-10。reg_place 是分析归属，不代表居住地；所有视频结论属于观察性证据。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f6a51ddea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cd95441ded4269" /><Relationship Type="http://schemas.openxmlformats.org/officeDocument/2006/relationships/slideLayout" Target="/ppt/slideLayouts/slideLayout1.xml" Id="Rb6dff5884e0348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ff5884e0348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c18d9839b4d56" /><Relationship Type="http://schemas.openxmlformats.org/officeDocument/2006/relationships/notesSlide" Target="/ppt/notesSlides/notesSlide1.xml" Id="Re4a344bfc7a44e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e5e21efba42be" /><Relationship Type="http://schemas.openxmlformats.org/officeDocument/2006/relationships/notesSlide" Target="/ppt/notesSlides/notesSlide2.xml" Id="Rc5ecf8ac03034d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2b756233943fd" /><Relationship Type="http://schemas.openxmlformats.org/officeDocument/2006/relationships/chart" Target="/ppt/slides/charts/chart1.xml" Id="R010ce604368540d0" /><Relationship Type="http://schemas.openxmlformats.org/officeDocument/2006/relationships/notesSlide" Target="/ppt/notesSlides/notesSlide3.xml" Id="Rd3cf7452d1ef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424c9091c4633" /><Relationship Type="http://schemas.openxmlformats.org/officeDocument/2006/relationships/chart" Target="/ppt/slides/charts/chart2.xml" Id="R881da9417d984505" /><Relationship Type="http://schemas.openxmlformats.org/officeDocument/2006/relationships/notesSlide" Target="/ppt/notesSlides/notesSlide4.xml" Id="Re28e79741316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1269763144ea0" /><Relationship Type="http://schemas.openxmlformats.org/officeDocument/2006/relationships/chart" Target="/ppt/slides/charts/chart3.xml" Id="Raae72480df8744c4" /><Relationship Type="http://schemas.openxmlformats.org/officeDocument/2006/relationships/notesSlide" Target="/ppt/notesSlides/notesSlide5.xml" Id="Rf96d3b5bdaa946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d29c0b6c448bf" /><Relationship Type="http://schemas.openxmlformats.org/officeDocument/2006/relationships/chart" Target="/ppt/slides/charts/chart4.xml" Id="R872b17f9dc8d4356" /><Relationship Type="http://schemas.openxmlformats.org/officeDocument/2006/relationships/notesSlide" Target="/ppt/notesSlides/notesSlide6.xml" Id="R5f1ce88cb9ec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47915f15a4750" /><Relationship Type="http://schemas.openxmlformats.org/officeDocument/2006/relationships/chart" Target="/ppt/slides/charts/chart5.xml" Id="R9321ca60fe1d4901" /><Relationship Type="http://schemas.openxmlformats.org/officeDocument/2006/relationships/notesSlide" Target="/ppt/notesSlides/notesSlide7.xml" Id="R965fc216de3c41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c0ff5e5f64073" /><Relationship Type="http://schemas.openxmlformats.org/officeDocument/2006/relationships/chart" Target="/ppt/slides/charts/chart6.xml" Id="Rb449f6a8c91c40be" /><Relationship Type="http://schemas.openxmlformats.org/officeDocument/2006/relationships/notesSlide" Target="/ppt/notesSlides/notesSlide8.xml" Id="R47f9b74138074e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c487917a143a1" /><Relationship Type="http://schemas.openxmlformats.org/officeDocument/2006/relationships/notesSlide" Target="/ppt/notesSlides/notesSlide9.xml" Id="R2b6909a296b748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61e83da1e411a" /><Relationship Type="http://schemas.openxmlformats.org/officeDocument/2006/relationships/notesSlide" Target="/ppt/notesSlides/notesSlide10.xml" Id="R62e783624ec9472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可观察用户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2510</c:v>
                </c:pt>
                <c:pt idx="1">
                  <c:v>4478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日均观察用户</c:v>
          </c:tx>
          <c:spPr>
            <a:solidFill xmlns:a="http://schemas.openxmlformats.org/drawingml/2006/main">
              <a:srgbClr val="2F9C95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2023 发布前</c:v>
                </c:pt>
                <c:pt idx="1">
                  <c:v>2023 发布后</c:v>
                </c:pt>
                <c:pt idx="2">
                  <c:v>2025 发布前</c:v>
                </c:pt>
                <c:pt idx="3">
                  <c:v>2025 高播放窗口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5.1</c:v>
                </c:pt>
                <c:pt idx="1">
                  <c:v>35.1</c:v>
                </c:pt>
                <c:pt idx="2">
                  <c:v>7.7</c:v>
                </c:pt>
                <c:pt idx="3">
                  <c:v>77.9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视频窗口</c:v>
          </c:tx>
          <c:spPr>
            <a:solidFill xmlns:a="http://schemas.openxmlformats.org/drawingml/2006/main">
              <a:srgbClr val="E58A3A"/>
            </a:solidFill>
          </c:spPr>
          <c:cat>
            <c:strRef>
              <c:f>'Chart Data'!$A$2:$A$6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0.826</c:v>
                </c:pt>
                <c:pt idx="1">
                  <c:v>0.56</c:v>
                </c:pt>
                <c:pt idx="2">
                  <c:v>0.136</c:v>
                </c:pt>
                <c:pt idx="3">
                  <c:v>0.068</c:v>
                </c:pt>
                <c:pt idx="4">
                  <c:v>0.021</c:v>
                </c:pt>
              </c:numCache>
            </c:numRef>
          </c:val>
        </c:ser>
        <c:ser>
          <c:idx val="1"/>
          <c:order val="1"/>
          <c:tx>
            <c:v>相邻月份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Data'!$C$2:$C$6</c:f>
              <c:strCache>
                <c:ptCount val="5"/>
                <c:pt idx="0">
                  <c:v>有行动</c:v>
                </c:pt>
                <c:pt idx="1">
                  <c:v>至少 1 找</c:v>
                </c:pt>
                <c:pt idx="2">
                  <c:v>至少 3 找</c:v>
                </c:pt>
                <c:pt idx="3">
                  <c:v>至少 5 找</c:v>
                </c:pt>
                <c:pt idx="4">
                  <c:v>至少 10 找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0.751</c:v>
                </c:pt>
                <c:pt idx="1">
                  <c:v>0.628</c:v>
                </c:pt>
                <c:pt idx="2">
                  <c:v>0.173</c:v>
                </c:pt>
                <c:pt idx="3">
                  <c:v>0.126</c:v>
                </c:pt>
                <c:pt idx="4">
                  <c:v>0.047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首次 DNF 后 30 天内恢复</c:v>
          </c:tx>
          <c:spPr>
            <a:solidFill xmlns:a="http://schemas.openxmlformats.org/drawingml/2006/main">
              <a:srgbClr val="C94C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176B87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视频窗口</c:v>
                </c:pt>
                <c:pt idx="1">
                  <c:v>相邻月份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0.358</c:v>
                </c:pt>
                <c:pt idx="1">
                  <c:v>0.538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M12 活跃率</c:v>
          </c:tx>
          <c:spPr>
            <a:solidFill xmlns:a="http://schemas.openxmlformats.org/drawingml/2006/main">
              <a:srgbClr val="176B87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E58A3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 找</c:v>
                </c:pt>
                <c:pt idx="1">
                  <c:v>1–9 找</c:v>
                </c:pt>
                <c:pt idx="2">
                  <c:v>10+ 找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0.042</c:v>
                </c:pt>
                <c:pt idx="1">
                  <c:v>0.034</c:v>
                </c:pt>
                <c:pt idx="2">
                  <c:v>0.218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3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percentStacked"/>
        <c:varyColors val="0"/>
        <c:ser>
          <c:idx val="0"/>
          <c:order val="0"/>
          <c:tx>
            <c:v>0 找</c:v>
          </c:tx>
          <c:spPr>
            <a:solidFill xmlns:a="http://schemas.openxmlformats.org/drawingml/2006/main">
              <a:srgbClr val="A8B2BE"/>
            </a:solidFill>
          </c:spPr>
          <c:cat>
            <c:numRef>
              <c:f>'Chart Data'!$A$2:$A$3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0.311</c:v>
                </c:pt>
                <c:pt idx="1">
                  <c:v>0.232</c:v>
                </c:pt>
              </c:numCache>
            </c:numRef>
          </c:val>
        </c:ser>
        <c:ser>
          <c:idx val="1"/>
          <c:order val="1"/>
          <c:tx>
            <c:v>1–9 找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Data'!$C$2:$C$3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0.602</c:v>
                </c:pt>
                <c:pt idx="1">
                  <c:v>0.672</c:v>
                </c:pt>
              </c:numCache>
            </c:numRef>
          </c:val>
        </c:ser>
        <c:ser>
          <c:idx val="2"/>
          <c:order val="2"/>
          <c:tx>
            <c:v>10+ 找</c:v>
          </c:tx>
          <c:spPr>
            <a:solidFill xmlns:a="http://schemas.openxmlformats.org/drawingml/2006/main">
              <a:srgbClr val="E58A3A"/>
            </a:solidFill>
          </c:spPr>
          <c:cat>
            <c:numRef>
              <c:f>'Chart Data'!$E$2:$E$3</c:f>
              <c:numCache>
                <c:formatCode>0%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0.087</c:v>
                </c:pt>
                <c:pt idx="1">
                  <c:v>0.096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88541-39BF-43F2-BE71-18DB4718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9A13E-A8C8-4ED1-82A4-94494D30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81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大中华区用户增长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6525C-4F46-43E6-B83C-995BEF9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CFE2E8"/>
                </a:solidFill>
                <a:latin typeface="Noto Sans SC"/>
                <a:ea typeface="Noto Sans SC"/>
                <a:cs typeface="Noto Sans SC"/>
              </a:rPr>
              <a:t>从流量涌入到持续参与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B68E4-BFF2-49C1-B968-6F2ECF29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D7E0E5"/>
                </a:solidFill>
                <a:latin typeface="Noto Sans SC"/>
                <a:ea typeface="Noto Sans SC"/>
                <a:cs typeface="Noto Sans SC"/>
              </a:rPr>
              <a:t>Geocaching 用户行为与增长机会分析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A09F1-570E-4724-BF08-37672057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数据截止 2026-09-10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512B9-EA4A-4A99-B097-11875DD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10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7C4"/>
                </a:solidFill>
                <a:latin typeface="Noto Sans SC"/>
                <a:ea typeface="Noto Sans SC"/>
                <a:cs typeface="Noto Sans SC"/>
              </a:rPr>
              <a:t>管理层汇报</a:t>
            </a:r>
          </a:p>
        </p:txBody>
      </p:sp>
    </p:spTree>
    <p:extLst>
      <p:ext uri="{BB962C8B-B14F-4D97-AF65-F5344CB8AC3E}">
        <p14:creationId xmlns:p14="http://schemas.microsoft.com/office/powerpoint/2010/main" val="2135400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BF6D5-D29E-4756-8C59-843FDB22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25325-A0D5-4F94-968F-74CC5CE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管理层结论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8CC4E-7426-428B-B8E3-29D26D73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增长入口已经得到验证，经营重点应转向新用户承接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308E9-E30A-44C6-B22C-4D2B44C1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6CD04-9D12-4A53-AF2C-3D8C6AF0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2AD9B-7C75-4F09-B614-C3A839C4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6952D-F1F5-4CFE-9CEE-88979DC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内容传播能够快速扩大入口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5CC97-9AE3-4A4C-9AEA-ADE961D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两次高影响力视频都带来明显的中国用户涌入，说明外部内容是有效获客渠道。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6471A-0624-4C6D-AC9A-C3830D9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6AEA1-E963-48EC-9173-1C27697A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4272E-3B08-4D65-9295-30A764D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流量没有自然转化为长期参与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C6AC4-5CAD-449F-BCCF-9A1BB06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视频用户愿意尝试，但首次成功、连续体验和后续活跃均弱于相邻时期。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3C0F9-73A6-45E0-84B1-4BEDE40B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3F3AC-A508-41BB-BB30-70BE696B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65B66-1827-4AF5-8DAC-B02C2C7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早期深度比首找速度更重要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5F163-A897-499E-8B8A-7ABF73F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长期活跃与注册后完成多次寻宝高度相关，单纯追求注册当天首找价值有限。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D7464-C15C-4967-A25A-C0BC38C1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2B9B8-01E1-4F08-A170-71810DA4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9CDE9-30D2-4F25-B714-193D4031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首次失败是最清晰的干预点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1C3C8-2B81-4315-9CA8-BDE2B6B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只出现 DNF 的新用户最容易流失，恢复者通常通过另一个缓存获得成功。</a:t>
            </a:r>
          </a:p>
        </p:txBody>
      </p:sp>
    </p:spTree>
    <p:extLst>
      <p:ext uri="{BB962C8B-B14F-4D97-AF65-F5344CB8AC3E}">
        <p14:creationId xmlns:p14="http://schemas.microsoft.com/office/powerpoint/2010/main" val="1861170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220C0-6006-4C37-92A4-BA07899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C0657-E11E-491D-AAAE-A5424C0D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可观察用户规模显著扩大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F5516-EFCF-41BF-B05B-E3EE1BCC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 年增长伴随早期质量小幅改善，但不等于平台总注册增长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C1742-F117-4B45-A14D-52DDB5D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F4BB-4E4C-4252-96CE-76F7284D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0ce604368540d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D3A95-452B-4963-A076-D85ED5E4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24500"/>
            <a:ext cx="649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0CE08-B575-4120-8FD9-C5B28FEB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3C4E8-FFE9-470E-A2AA-48F0550E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38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3D734-1B73-4A66-8B61-8F5643A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+78%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5C74F-ECBC-47EE-8DA4-31D7876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较 2024 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336FE-9D19-4D6F-B184-49DBF62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0BB5E-078E-44D0-8D52-3B89FF2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304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增长是真实的观察结果，但用户进入样本的前提是在大中华区留下日志。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6D70D-E3B6-4D15-9276-7D73B4AA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因此应将其视为参与规模增长，而非平台整体注册增长。</a:t>
            </a:r>
          </a:p>
        </p:txBody>
      </p:sp>
    </p:spTree>
    <p:extLst>
      <p:ext uri="{BB962C8B-B14F-4D97-AF65-F5344CB8AC3E}">
        <p14:creationId xmlns:p14="http://schemas.microsoft.com/office/powerpoint/2010/main" val="588290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30540-C85A-4B7C-9519-BEC4B845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05CF-D919-412A-8932-5452B7B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头部视频带来强烈且中国用户占比高的流量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E3ADE-1D68-49F8-9C42-1BD2DB01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发布后的日均观察用户远高于发布前，后续低播放内容未复制同等效果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A622D-1209-4CB5-86CA-159D2DD1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B4AF3-847D-4EBD-9F16-4337770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1da9417d98450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2C265-21D7-4C94-AF90-8C6F10C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发布窗口中的 China 用户占比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CA366-073E-4F12-BE0E-3455EF2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约 8 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85A91-40C9-4954-89E8-F5608AB5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2023 与 2025 两次事件方向一致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5CA93-6661-4C5A-AC1B-4CE3A0E1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时间吻合支持视频是重要来源，但现有数据不能排除转发和同期传播。</a:t>
            </a:r>
          </a:p>
        </p:txBody>
      </p:sp>
    </p:spTree>
    <p:extLst>
      <p:ext uri="{BB962C8B-B14F-4D97-AF65-F5344CB8AC3E}">
        <p14:creationId xmlns:p14="http://schemas.microsoft.com/office/powerpoint/2010/main" val="1097564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221E2-DDD9-41B8-A9C2-2C7F107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8B87B-00A3-4722-B9B1-ED41EA95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视频用户愿意行动，但没有顺利进入持续体验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A2501-FC0C-4C83-B034-6BEFF05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主要损失发生在已经尝试之后，尤其是首次成功与多次寻找之间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16D77-2605-4DC1-ABB1-C69305F7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5041C-9484-4D75-A8D6-AD2110F8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e72480df8744c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EBCBC-D090-46E2-854D-F8E5570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流量规模扩大后，承接能力没有同步扩大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47220-5123-4187-87F2-857332D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运营重点应放在首次成功和从 1 找进入连续体验。</a:t>
            </a:r>
          </a:p>
        </p:txBody>
      </p:sp>
    </p:spTree>
    <p:extLst>
      <p:ext uri="{BB962C8B-B14F-4D97-AF65-F5344CB8AC3E}">
        <p14:creationId xmlns:p14="http://schemas.microsoft.com/office/powerpoint/2010/main" val="1313039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83585-4088-4C15-8316-81AC944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7DD01-C75D-4633-8DD8-EE6CE9F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首次失败后，恢复路径比失败本身更重要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DAAF5-78F4-44CE-A063-2052118F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视频用户的 30 天恢复弱于相邻月份，成功恢复者通常选择另一个缓存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3CE3C-7CCF-4534-853A-701F92F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02B51-0849-4F77-9424-490A23AD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2b17f9dc8d435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6DBB6-1674-4771-9663-D4ABD6DB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恢复者中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63BF0-DA68-4E36-9F05-8E72531B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绝大多数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97D0B-F809-4A26-AA93-0273614B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通过另一个缓存完成首次成功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2A95A-F220-454B-9E25-B5DAB1CA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9BE4E-53FD-41F4-B930-04C7A3E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产品含义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B9BF0-AC7F-48C9-8E11-5108B350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后优先推荐附近更容易、近期有人成功的替代缓存。</a:t>
            </a:r>
          </a:p>
        </p:txBody>
      </p:sp>
    </p:spTree>
    <p:extLst>
      <p:ext uri="{BB962C8B-B14F-4D97-AF65-F5344CB8AC3E}">
        <p14:creationId xmlns:p14="http://schemas.microsoft.com/office/powerpoint/2010/main" val="392534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DFD46-9C19-4144-BDFC-A4CC88D2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631D8-6F59-463A-90BC-DD49B17B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长期活跃与早期体验深度高度相关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9369D-F470-414C-8095-BE281EB3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注册后 30 天达到 10 找的用户，后续活跃明显高于浅层体验用户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3FE46-97DA-48C2-9C28-5D60E399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D7C7A-0753-4CC0-9CA8-8FEE2214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1ca60fe1d490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CBA0E-D18C-408E-9293-6D9D4B3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F5948-BD1B-4D7F-A2BD-96A9340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0 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9DE45-9B1F-44A4-874F-60FDEE50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1–9 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63F00-403F-42F3-B1E9-27E016B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24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10+ 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2225F-A93E-47F7-9C46-C28A528E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最强行为信号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D731F-99CD-496D-9FFA-14ABAE5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早期完成多次寻宝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4FA3B-72DE-4C3D-88EB-442EC119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这是一种行为关联，可能同时反映用户原本的兴趣强度，不能直接解释为因果。</a:t>
            </a:r>
          </a:p>
        </p:txBody>
      </p:sp>
    </p:spTree>
    <p:extLst>
      <p:ext uri="{BB962C8B-B14F-4D97-AF65-F5344CB8AC3E}">
        <p14:creationId xmlns:p14="http://schemas.microsoft.com/office/powerpoint/2010/main" val="836668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E30F1-51E1-4DE8-AEFF-F3CEFD63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17274-DDA9-4957-8F71-FB7CD95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最大的经营机会集中在浅层体验用户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92327-0971-49E8-90D4-424A35F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多数成熟用户停留在 1–9 找，规模远大于完全未体验或已经形成深度习惯的人群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2FE8C-1FC7-42E7-ABD5-A461245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C9422-D349-445F-842B-1EB6B6E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49f6a8c91c40b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03F69-908E-40EC-8B1D-E582DDB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E58A3A"/>
                </a:solidFill>
                <a:latin typeface="Noto Sans SC"/>
                <a:ea typeface="Noto Sans SC"/>
                <a:cs typeface="Noto Sans SC"/>
              </a:rPr>
              <a:t>经营判断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E98FF-CF11-4679-8CA3-3E66FFF8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这批用户已经理解玩法，下一次行动的教育成本最低。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ABA82-89AE-4A4F-BD63-F469A4F5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适合用城市路线、阶段进度和附近推荐推动继续参与。</a:t>
            </a:r>
          </a:p>
        </p:txBody>
      </p:sp>
    </p:spTree>
    <p:extLst>
      <p:ext uri="{BB962C8B-B14F-4D97-AF65-F5344CB8AC3E}">
        <p14:creationId xmlns:p14="http://schemas.microsoft.com/office/powerpoint/2010/main" val="1557781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8EADA-C6C1-41ED-BF3D-E6A49FC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03843-9B1B-4502-9FA8-83F5CA9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新用户承接模型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9B814-F577-437A-9D71-3047977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将内容流量转化为可重复的新手体验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9C7BB-1063-4DBE-8BFC-9CC68F31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BBC38-08AF-4DDE-A011-9BBF8B6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424C0-EC23-4223-B8E4-F7D2875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内容触达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66813-E143-4ED4-8992-9AD66061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城市落地页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玩法预期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C8763-B30E-4CFD-9524-EB991890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035A1-E581-476F-B2EA-4C1756D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首次尝试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F436A-7A11-4151-B338-4312648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新手缓存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路线推荐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B9D8A-3D56-4FFE-BB8A-1DA66A81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83231-DF7A-4703-B735-AF3936E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31A42-A127-4C48-971B-0C7106EF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DNF 救援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替代缓存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71178-C1AB-4F46-B91B-4803E848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CC754-1001-4A0E-929A-8AD8EFC7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连续体验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D45B4-1B33-45D0-92CA-31664DA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3 / 5 / 10 找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阶段进度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D8359-859B-4E3E-B6BF-06599BC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99461-83EB-43BE-A2BA-3F8B3D88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周期回归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AC8E3-29E9-4EE4-9B75-9E7E3865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76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假期与天气</a:t>
            </a:r>
          </a:p>
          <a:p xmlns:a="http://schemas.openxmlformats.org/drawingml/2006/main">
            <a:pPr algn="l">
              <a:def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低频召回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98E62-0687-438D-8A90-E2E205A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10BA2-B5BF-4074-810D-DD12F89B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核心原则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4AF84-5850-4FC0-A146-83BD8CA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720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每一步只解决一个阻力：不知道怎么玩、第一次失败、缺少下一目标、长期没有合适时机。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56F28-26DF-4CF6-A400-CBD06971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视频传播前准备承接内容，传播后重点监控首次尝试到首次成功的转化。</a:t>
            </a:r>
          </a:p>
        </p:txBody>
      </p:sp>
    </p:spTree>
    <p:extLst>
      <p:ext uri="{BB962C8B-B14F-4D97-AF65-F5344CB8AC3E}">
        <p14:creationId xmlns:p14="http://schemas.microsoft.com/office/powerpoint/2010/main" val="2038378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80D36-B11B-4EA9-8C3F-C962A301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29B55-6CCA-4926-B444-7356B01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未来 90 天的管理议程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2A580-BD32-4ED7-883A-B5614395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先修复转化断点，再决定是否扩大内容投放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BE87F-9CD7-4B31-946F-65DA5B40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2B6BD-5FD2-4BE5-AA7A-77B37D85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9A288-D012-48F6-9BD1-81D61C93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优先事项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51D30-8E19-4361-A533-FC00FB3F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具体动作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0FF02-F7B1-474C-8D01-8EE546F0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43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管理指标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B70B1-4A23-4853-BF27-37EFEA68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新手承接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4B669-81DE-405B-A19D-9DFBEE01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建立重点城市的新手路线和可用缓存清单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B6E6B-2041-4342-ADDB-19AA9785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首次成功率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7C7C-4977-44EA-AC9E-FE39DD75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DA432-E7AB-4B88-A550-F8F1717B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B94C2-D856-4DE4-9D8F-E12AC96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首次 DNF 后推荐附近更容易的替代缓存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F8534-E2F7-44DE-9B97-CEF92429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30 天恢复率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4491E-66A1-4535-9DD2-C9DD4693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3F0FA-15C6-42E6-BCCA-A26333FF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深度推进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97106-2750-46A1-AA99-B427675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为 1–9 找用户设计 3 / 5 / 10 找阶段任务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EE9C8-95A5-4A73-8189-B6F64C81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004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早期深度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9C17F-E70B-4A08-A5E4-7B803288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7EF07-FC94-4AEC-90F9-BDFEBA92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渠道验证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47287-01FC-4A72-B4DB-C0705E16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43A"/>
                </a:solidFill>
                <a:latin typeface="Noto Sans SC"/>
                <a:ea typeface="Noto Sans SC"/>
                <a:cs typeface="Noto Sans SC"/>
              </a:rPr>
              <a:t>记录来源、内容曝光和推荐展示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67430-DED2-45B1-B030-C3B5A7F4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76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6B87"/>
                </a:solidFill>
                <a:latin typeface="Noto Sans SC"/>
                <a:ea typeface="Noto Sans SC"/>
                <a:cs typeface="Noto Sans SC"/>
              </a:rPr>
              <a:t>渠道质量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35BC9-E613-4524-8B9D-6B5F1803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8469F-65CB-4AB1-AA5F-4DE07A6E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决策边界：当前证据支持优先改善承接，但尚不足以计算视频渠道 ROI。</a:t>
            </a:r>
          </a:p>
        </p:txBody>
      </p:sp>
    </p:spTree>
    <p:extLst>
      <p:ext uri="{BB962C8B-B14F-4D97-AF65-F5344CB8AC3E}">
        <p14:creationId xmlns:p14="http://schemas.microsoft.com/office/powerpoint/2010/main" val="1670738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2026-09-12T07:58:23.4600000Z</dcterms:created>
  <dcterms:modified xsi:type="dcterms:W3CDTF">2026-09-12T07:58:23.4600000Z</dcterms:modified>
</coreProperties>
</file>