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6871cb28044adc" /><Relationship Type="http://schemas.openxmlformats.org/officeDocument/2006/relationships/extended-properties" Target="/docProps/app.xml" Id="R51aadd25a0e24769" /><Relationship Type="http://schemas.openxmlformats.org/officeDocument/2006/relationships/officeDocument" Target="/ppt/presentation.xml" Id="Rd588822150ff44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5ba158d13d48dd"/>
  </p:sldMasterIdLst>
  <p:notesMasterIdLst>
    <p:notesMasterId xmlns:r="http://schemas.openxmlformats.org/officeDocument/2006/relationships" r:id="R64f58f8649b542cd"/>
  </p:notesMasterIdLst>
  <p:sldIdLst>
    <p:sldId xmlns:r="http://schemas.openxmlformats.org/officeDocument/2006/relationships" id="256" r:id="Ra4b7ed2f4ba94e23"/>
    <p:sldId xmlns:r="http://schemas.openxmlformats.org/officeDocument/2006/relationships" id="257" r:id="Ra4ba7a9673814b09"/>
    <p:sldId xmlns:r="http://schemas.openxmlformats.org/officeDocument/2006/relationships" id="258" r:id="Rde104489f6bc4688"/>
    <p:sldId xmlns:r="http://schemas.openxmlformats.org/officeDocument/2006/relationships" id="259" r:id="Rbcdcfec364f241b9"/>
    <p:sldId xmlns:r="http://schemas.openxmlformats.org/officeDocument/2006/relationships" id="260" r:id="R6fe4aa77279c4364"/>
    <p:sldId xmlns:r="http://schemas.openxmlformats.org/officeDocument/2006/relationships" id="261" r:id="Rd3a9c9d1962849cf"/>
    <p:sldId xmlns:r="http://schemas.openxmlformats.org/officeDocument/2006/relationships" id="262" r:id="R6f2b4e1643f74711"/>
    <p:sldId xmlns:r="http://schemas.openxmlformats.org/officeDocument/2006/relationships" id="263" r:id="R36ecc00e980147f3"/>
    <p:sldId xmlns:r="http://schemas.openxmlformats.org/officeDocument/2006/relationships" id="264" r:id="Rc55836e43d80488f"/>
    <p:sldId xmlns:r="http://schemas.openxmlformats.org/officeDocument/2006/relationships" id="265" r:id="Rcc4edf56792d47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7ad8d372284c65" /><Relationship Type="http://schemas.openxmlformats.org/officeDocument/2006/relationships/slideMaster" Target="/ppt/slideMasters/slideMaster1.xml" Id="Rfb5ba158d13d48dd" /><Relationship Type="http://schemas.openxmlformats.org/officeDocument/2006/relationships/notesMaster" Target="/ppt/notesMasters/notesMaster1.xml" Id="R64f58f8649b542cd" /><Relationship Type="http://schemas.openxmlformats.org/officeDocument/2006/relationships/presProps" Target="/ppt/presProps.xml" Id="Rdc8bacbf4edc484a" /><Relationship Type="http://schemas.openxmlformats.org/officeDocument/2006/relationships/tableStyles" Target="/ppt/tableStyles.xml" Id="R501ffe4c8a0e43a9" /><Relationship Type="http://schemas.openxmlformats.org/officeDocument/2006/relationships/slide" Target="/ppt/slides/slide1.xml" Id="Ra4b7ed2f4ba94e23" /><Relationship Type="http://schemas.openxmlformats.org/officeDocument/2006/relationships/slide" Target="/ppt/slides/slide2.xml" Id="Ra4ba7a9673814b09" /><Relationship Type="http://schemas.openxmlformats.org/officeDocument/2006/relationships/slide" Target="/ppt/slides/slide3.xml" Id="Rde104489f6bc4688" /><Relationship Type="http://schemas.openxmlformats.org/officeDocument/2006/relationships/slide" Target="/ppt/slides/slide4.xml" Id="Rbcdcfec364f241b9" /><Relationship Type="http://schemas.openxmlformats.org/officeDocument/2006/relationships/slide" Target="/ppt/slides/slide5.xml" Id="R6fe4aa77279c4364" /><Relationship Type="http://schemas.openxmlformats.org/officeDocument/2006/relationships/slide" Target="/ppt/slides/slide6.xml" Id="Rd3a9c9d1962849cf" /><Relationship Type="http://schemas.openxmlformats.org/officeDocument/2006/relationships/slide" Target="/ppt/slides/slide7.xml" Id="R6f2b4e1643f74711" /><Relationship Type="http://schemas.openxmlformats.org/officeDocument/2006/relationships/slide" Target="/ppt/slides/slide8.xml" Id="R36ecc00e980147f3" /><Relationship Type="http://schemas.openxmlformats.org/officeDocument/2006/relationships/slide" Target="/ppt/slides/slide9.xml" Id="Rc55836e43d80488f" /><Relationship Type="http://schemas.openxmlformats.org/officeDocument/2006/relationships/slide" Target="/ppt/slides/slide10.xml" Id="Rcc4edf56792d47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d11f986b794c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d6b2a868c249c7" /><Relationship Type="http://schemas.openxmlformats.org/officeDocument/2006/relationships/notesMaster" Target="/ppt/notesMasters/notesMaster1.xml" Id="R08512f0127bf41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8a51e5018c4dba" /><Relationship Type="http://schemas.openxmlformats.org/officeDocument/2006/relationships/notesMaster" Target="/ppt/notesMasters/notesMaster1.xml" Id="R8c99c93290fc46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0ef807430745bc" /><Relationship Type="http://schemas.openxmlformats.org/officeDocument/2006/relationships/notesMaster" Target="/ppt/notesMasters/notesMaster1.xml" Id="Rde49ca4bd3064b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cb5a34ba2f4747" /><Relationship Type="http://schemas.openxmlformats.org/officeDocument/2006/relationships/notesMaster" Target="/ppt/notesMasters/notesMaster1.xml" Id="R715a87a77c1044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3dabff10a248b3" /><Relationship Type="http://schemas.openxmlformats.org/officeDocument/2006/relationships/notesMaster" Target="/ppt/notesMasters/notesMaster1.xml" Id="R5806e2859dc245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6d2df1d5914922" /><Relationship Type="http://schemas.openxmlformats.org/officeDocument/2006/relationships/notesMaster" Target="/ppt/notesMasters/notesMaster1.xml" Id="R8ed1dd7424634b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799e88583e46b0" /><Relationship Type="http://schemas.openxmlformats.org/officeDocument/2006/relationships/notesMaster" Target="/ppt/notesMasters/notesMaster1.xml" Id="R9ae6e629315640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27cf7233a8405e" /><Relationship Type="http://schemas.openxmlformats.org/officeDocument/2006/relationships/notesMaster" Target="/ppt/notesMasters/notesMaster1.xml" Id="R82c442a12ec341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1ce23afedf4e19" /><Relationship Type="http://schemas.openxmlformats.org/officeDocument/2006/relationships/notesMaster" Target="/ppt/notesMasters/notesMaster1.xml" Id="R953c51f4ab7d48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afc38ca62f4137" /><Relationship Type="http://schemas.openxmlformats.org/officeDocument/2006/relationships/notesMaster" Target="/ppt/notesMasters/notesMaster1.xml" Id="Ra33365c5bc9a4f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2026-09-10。本报告描述在大中华区缓存日志中被观察到的用户，不代表 Geocaching 全部注册用户。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2026-09-10。年度口径为在大中华区缓存日志中被观察到、且注册日期已知的用户。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2026-09-10。日均值按各观察窗口总人数除以窗口天数计算。2023 发布前 30 天、发布后 7 天；2025 发布前 7 天、高播放合并窗口 8 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2026-09-10。对象为 2025-08-06 至 08-13 注册且 reg_place=China 的 D30 成熟用户；对照为相邻月份。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2026-09-10。视频窗口新人失败样本 218 人；相邻月份 65 人。可比较的恢复记录中，视频窗口 87 人里 80 人通过其他缓存恢复。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2026-09-10。China 用户总体成熟样本。M12 指注册后第 360–389 天在大中华区缓存上至少一次有效参与。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2026-09-10。年度生命周期结构按注册后前 90 天 Found it 深度汇总，仅用于描述结构。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2026-09-10。本页为基于行为证据形成的运营建议，不代表已验证的因果效果。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2026-09-10。reg_place 是分析归属，不代表居住地；所有视频结论属于观察性证据。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1ce9b4b144a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ea52140719482c" /><Relationship Type="http://schemas.openxmlformats.org/officeDocument/2006/relationships/slideLayout" Target="/ppt/slideLayouts/slideLayout1.xml" Id="Rfcdbda0851d147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dbda0851d147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f70a8f53d406b" /><Relationship Type="http://schemas.openxmlformats.org/officeDocument/2006/relationships/notesSlide" Target="/ppt/notesSlides/notesSlide1.xml" Id="R10a6640fc5644b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a90ee2ba74777" /><Relationship Type="http://schemas.openxmlformats.org/officeDocument/2006/relationships/notesSlide" Target="/ppt/notesSlides/notesSlide2.xml" Id="R3649e20e503942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2d37d99774729" /><Relationship Type="http://schemas.openxmlformats.org/officeDocument/2006/relationships/chart" Target="/ppt/slides/charts/chart1.xml" Id="R78138e48e3864501" /><Relationship Type="http://schemas.openxmlformats.org/officeDocument/2006/relationships/notesSlide" Target="/ppt/notesSlides/notesSlide3.xml" Id="Rbd3382e818664f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46a0352c24237" /><Relationship Type="http://schemas.openxmlformats.org/officeDocument/2006/relationships/chart" Target="/ppt/slides/charts/chart2.xml" Id="Rcccb3162e5d644b3" /><Relationship Type="http://schemas.openxmlformats.org/officeDocument/2006/relationships/notesSlide" Target="/ppt/notesSlides/notesSlide4.xml" Id="R1078fa7ad8c844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8d0467e324e39" /><Relationship Type="http://schemas.openxmlformats.org/officeDocument/2006/relationships/chart" Target="/ppt/slides/charts/chart3.xml" Id="Rc32ba390fed84d60" /><Relationship Type="http://schemas.openxmlformats.org/officeDocument/2006/relationships/notesSlide" Target="/ppt/notesSlides/notesSlide5.xml" Id="R2490cbff31ee46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bad18107c4593" /><Relationship Type="http://schemas.openxmlformats.org/officeDocument/2006/relationships/chart" Target="/ppt/slides/charts/chart4.xml" Id="Rbc642c05ca984e34" /><Relationship Type="http://schemas.openxmlformats.org/officeDocument/2006/relationships/notesSlide" Target="/ppt/notesSlides/notesSlide6.xml" Id="R7f20fa1068a945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90d19062840df" /><Relationship Type="http://schemas.openxmlformats.org/officeDocument/2006/relationships/chart" Target="/ppt/slides/charts/chart5.xml" Id="R7a78f77c1ce64e68" /><Relationship Type="http://schemas.openxmlformats.org/officeDocument/2006/relationships/notesSlide" Target="/ppt/notesSlides/notesSlide7.xml" Id="R57932e71399d44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969ea21ef4cdd" /><Relationship Type="http://schemas.openxmlformats.org/officeDocument/2006/relationships/chart" Target="/ppt/slides/charts/chart6.xml" Id="Re4eddc0ece524197" /><Relationship Type="http://schemas.openxmlformats.org/officeDocument/2006/relationships/notesSlide" Target="/ppt/notesSlides/notesSlide8.xml" Id="R0acf25b1088745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beb898f6f44d9" /><Relationship Type="http://schemas.openxmlformats.org/officeDocument/2006/relationships/notesSlide" Target="/ppt/notesSlides/notesSlide9.xml" Id="Rbb54cf97a8b34f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bae143cac4b80" /><Relationship Type="http://schemas.openxmlformats.org/officeDocument/2006/relationships/notesSlide" Target="/ppt/notesSlides/notesSlide10.xml" Id="R8a7e5fe13efa4a9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可观察用户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2510</c:v>
                </c:pt>
                <c:pt idx="1">
                  <c:v>4478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日均观察用户</c:v>
          </c:tx>
          <c:spPr>
            <a:solidFill xmlns:a="http://schemas.openxmlformats.org/drawingml/2006/main">
              <a:srgbClr val="2F9C95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2023 发布前</c:v>
                </c:pt>
                <c:pt idx="1">
                  <c:v>2023 发布后</c:v>
                </c:pt>
                <c:pt idx="2">
                  <c:v>2025 发布前</c:v>
                </c:pt>
                <c:pt idx="3">
                  <c:v>2025 高播放窗口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5.1</c:v>
                </c:pt>
                <c:pt idx="1">
                  <c:v>35.1</c:v>
                </c:pt>
                <c:pt idx="2">
                  <c:v>7.7</c:v>
                </c:pt>
                <c:pt idx="3">
                  <c:v>77.9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视频窗口</c:v>
          </c:tx>
          <c:spPr>
            <a:solidFill xmlns:a="http://schemas.openxmlformats.org/drawingml/2006/main">
              <a:srgbClr val="E58A3A"/>
            </a:solidFill>
          </c:spPr>
          <c:cat>
            <c:strRef>
              <c:f>'Chart Data'!$A$2:$A$6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0.826</c:v>
                </c:pt>
                <c:pt idx="1">
                  <c:v>0.56</c:v>
                </c:pt>
                <c:pt idx="2">
                  <c:v>0.136</c:v>
                </c:pt>
                <c:pt idx="3">
                  <c:v>0.068</c:v>
                </c:pt>
                <c:pt idx="4">
                  <c:v>0.021</c:v>
                </c:pt>
              </c:numCache>
            </c:numRef>
          </c:val>
        </c:ser>
        <c:ser>
          <c:idx val="1"/>
          <c:order val="1"/>
          <c:tx>
            <c:v>相邻月份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Data'!$C$2:$C$6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0.751</c:v>
                </c:pt>
                <c:pt idx="1">
                  <c:v>0.628</c:v>
                </c:pt>
                <c:pt idx="2">
                  <c:v>0.173</c:v>
                </c:pt>
                <c:pt idx="3">
                  <c:v>0.126</c:v>
                </c:pt>
                <c:pt idx="4">
                  <c:v>0.047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首次 DNF 后 30 天内恢复</c:v>
          </c:tx>
          <c:spPr>
            <a:solidFill xmlns:a="http://schemas.openxmlformats.org/drawingml/2006/main">
              <a:srgbClr val="C94C4C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176B8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视频窗口</c:v>
                </c:pt>
                <c:pt idx="1">
                  <c:v>相邻月份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0.358</c:v>
                </c:pt>
                <c:pt idx="1">
                  <c:v>0.538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M12 活跃率</c:v>
          </c:tx>
          <c:spPr>
            <a:solidFill xmlns:a="http://schemas.openxmlformats.org/drawingml/2006/main">
              <a:srgbClr val="176B87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0 找</c:v>
                </c:pt>
                <c:pt idx="1">
                  <c:v>1–9 找</c:v>
                </c:pt>
                <c:pt idx="2">
                  <c:v>10+ 找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0.042</c:v>
                </c:pt>
                <c:pt idx="1">
                  <c:v>0.034</c:v>
                </c:pt>
                <c:pt idx="2">
                  <c:v>0.218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2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percentStacked"/>
        <c:varyColors val="0"/>
        <c:ser>
          <c:idx val="0"/>
          <c:order val="0"/>
          <c:tx>
            <c:v>0 找</c:v>
          </c:tx>
          <c:spPr>
            <a:solidFill xmlns:a="http://schemas.openxmlformats.org/drawingml/2006/main">
              <a:srgbClr val="A8B2BE"/>
            </a:solidFill>
          </c:spPr>
          <c:cat>
            <c:numRef>
              <c:f>'Chart Data'!$A$2:$A$3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0.311</c:v>
                </c:pt>
                <c:pt idx="1">
                  <c:v>0.232</c:v>
                </c:pt>
              </c:numCache>
            </c:numRef>
          </c:val>
        </c:ser>
        <c:ser>
          <c:idx val="1"/>
          <c:order val="1"/>
          <c:tx>
            <c:v>1–9 找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Data'!$C$2:$C$3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0.602</c:v>
                </c:pt>
                <c:pt idx="1">
                  <c:v>0.672</c:v>
                </c:pt>
              </c:numCache>
            </c:numRef>
          </c:val>
        </c:ser>
        <c:ser>
          <c:idx val="2"/>
          <c:order val="2"/>
          <c:tx>
            <c:v>10+ 找</c:v>
          </c:tx>
          <c:spPr>
            <a:solidFill xmlns:a="http://schemas.openxmlformats.org/drawingml/2006/main">
              <a:srgbClr val="E58A3A"/>
            </a:solidFill>
          </c:spPr>
          <c:cat>
            <c:numRef>
              <c:f>'Chart Data'!$E$2:$E$3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Data'!$F$2:$F$3</c:f>
              <c:numCache>
                <c:formatCode>0%</c:formatCode>
                <c:ptCount val="2"/>
                <c:pt idx="0">
                  <c:v>0.087</c:v>
                </c:pt>
                <c:pt idx="1">
                  <c:v>0.096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12C7E-0053-4B13-A038-87C4B4F7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1281F-9BB5-424D-A6F4-F69D0553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81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大中华区用户增长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D9682-7C29-441F-97C0-DF4E28C4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rPr>
              <a:t>从流量涌入到持续参与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E53C8-9C80-4B0D-8A6B-FEC21724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rPr>
              <a:t>Geocaching 用户行为与增长机会分析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6C23A-4A65-474C-9EA6-DD5FE529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数据截止 2026-09-10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E8164-5C84-4AA1-B83C-A8E8B887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10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管理层汇报</a:t>
            </a:r>
          </a:p>
        </p:txBody>
      </p:sp>
    </p:spTree>
    <p:extLst>
      <p:ext uri="{BB962C8B-B14F-4D97-AF65-F5344CB8AC3E}">
        <p14:creationId xmlns:p14="http://schemas.microsoft.com/office/powerpoint/2010/main" val="1069309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0EF6C-7F9A-446A-94A0-B59DAE4F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DC583-87E1-47C3-B257-F5DBF485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管理层结论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054B3-76F5-4C9C-8D41-6574561F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增长入口已经得到验证，经营重点应转向新用户承接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CFC84-1007-42D8-894B-AB223E4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1A50D-AFA1-4319-A7A5-9C88075E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1AC3C-FDCD-441D-B718-EE8B0C7E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1372B-CD56-47A6-8988-97D755AB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62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内容传播能够快速扩大入口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51A9E-AF07-42E8-ABEA-330F2BDD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621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两次高影响力视频都带来明显的中国用户涌入，说明外部内容是有效获客渠道。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AE8ED-683F-4C9A-8C52-2841B1A5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9F1DF-7174-495A-AF27-E1373EA5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1690E-1C35-4C21-A10E-D8BFF3AB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流量没有自然转化为长期参与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8C3FD-ABE3-4FF3-8B32-2497DFE9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视频用户愿意尝试，但首次成功、连续体验和后续活跃均弱于相邻时期。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862AB-5741-4B6F-B970-3BCE0BBC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8E0A3-6E17-43DD-9E44-5167C924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A8E85-39E7-4245-97A7-36F50789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早期深度比首找速度更重要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66349-8F7A-4551-8671-519DBC76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长期活跃与注册后完成多次寻宝高度相关，单纯追求注册当天首找价值有限。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1DE10-2EB0-437C-92DE-D1427D84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AC47E-B86A-449B-B041-473F9071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E9613-70CA-4DD1-811F-FCEF1963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首次失败是最清晰的干预点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E8B15-9499-47FD-9412-853C4395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768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只出现 DNF 的新用户最容易流失，恢复者通常通过另一个缓存获得成功。</a:t>
            </a:r>
          </a:p>
        </p:txBody>
      </p:sp>
    </p:spTree>
    <p:extLst>
      <p:ext uri="{BB962C8B-B14F-4D97-AF65-F5344CB8AC3E}">
        <p14:creationId xmlns:p14="http://schemas.microsoft.com/office/powerpoint/2010/main" val="1246031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DF79E-8310-4738-A7E1-EE49DA68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09030-D35A-4B12-94A1-6C1AD75E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可观察用户规模显著扩大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A7D59-2EE8-4D46-8B0B-376501B3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 年增长伴随早期质量小幅改善，但不等于平台总注册增长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03A69-CD53-4DCE-BD84-FCD2D5D2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6C962-9ADD-4445-B086-C76CAD7D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138e48e386450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E002F-CB24-4B75-9C61-232C6E9D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+78%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CBBA1-B633-4780-9835-DAACDBA3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较 2024 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F48F7-91E0-4937-83B9-272B5120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10903-B80C-4E07-A2CE-E6AAAC06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增长是真实的观察结果，但用户进入样本的前提是在大中华区留下日志。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DED6A-5C1F-4862-A233-E34CDDD8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因此应将其视为参与规模增长，而非平台整体注册增长。</a:t>
            </a:r>
          </a:p>
        </p:txBody>
      </p:sp>
    </p:spTree>
    <p:extLst>
      <p:ext uri="{BB962C8B-B14F-4D97-AF65-F5344CB8AC3E}">
        <p14:creationId xmlns:p14="http://schemas.microsoft.com/office/powerpoint/2010/main" val="1102198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36442-917F-4ACC-946E-684FD389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F721C-35E9-479E-AF98-DA0A4DEE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头部视频带来强烈且中国用户占比高的流量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D69BF-52C4-4C91-A885-D67A950C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发布后的日均观察用户远高于发布前，后续低播放内容未复制同等效果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9E9B8-0D9D-46DC-948E-A6AE7226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1D2BF-DFF3-4A75-85E9-BEA78505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7429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cb3162e5d644b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B81C9-F38A-4B0F-BC0B-AC995402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发布窗口中的 China 用户占比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AFE34-0865-46CC-8BB2-FC257819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约 8 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C6345-CA5B-407B-B1C0-2A30EE16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2023 与 2025 两次事件方向一致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6177C-F871-4C27-8069-B1C2D1F0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时间吻合支持视频是重要来源，但现有数据不能排除转发和同期传播。</a:t>
            </a:r>
          </a:p>
        </p:txBody>
      </p:sp>
    </p:spTree>
    <p:extLst>
      <p:ext uri="{BB962C8B-B14F-4D97-AF65-F5344CB8AC3E}">
        <p14:creationId xmlns:p14="http://schemas.microsoft.com/office/powerpoint/2010/main" val="701391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085F5-EEA4-44DA-A1F1-870AF4EB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1B08C-87ED-4072-8E81-0C3ADC3D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视频用户愿意行动，但没有顺利进入持续体验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B3C1E-2691-4646-BC05-65D905FC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主要损失发生在已经尝试之后，尤其是首次成功与多次寻找之间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D3F15-16A8-459D-8674-C6DB0851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AFA9D-C28E-4476-A339-B53A3118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8572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2ba390fed84d6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2C920-E432-4764-8EDE-EC0D16EC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90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流量规模扩大后，承接能力没有同步扩大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1E39A-9506-47C2-963F-66820069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运营重点应放在首次成功和从 1 找进入连续体验。</a:t>
            </a:r>
          </a:p>
        </p:txBody>
      </p:sp>
    </p:spTree>
    <p:extLst>
      <p:ext uri="{BB962C8B-B14F-4D97-AF65-F5344CB8AC3E}">
        <p14:creationId xmlns:p14="http://schemas.microsoft.com/office/powerpoint/2010/main" val="19150459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91C75-1790-41E1-AED5-156D68C6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217AC-FABA-448A-B749-EC008985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首次失败后，恢复路径比失败本身更重要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14912-B3DD-46B8-B97D-2100854D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视频用户的 30 天恢复弱于相邻月份，成功恢复者通常选择另一个缓存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DB1E4-4A27-4561-8828-D39BEF4A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1A00-A810-4D58-83D2-D4D4E5FB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38200" y="1857375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642c05ca984e3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76EE7-6164-43B8-96BD-FC506FC1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恢复者中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0324C-8637-498B-80F1-B88EA105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绝大多数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F7B00-9572-49B2-860B-B0005AAD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通过另一个缓存完成首次成功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1E1B2-A090-48C6-8D56-0B38323B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86B40-5474-44D9-B611-1224593F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产品含义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504CB-C8EF-4207-B98E-6E027F9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后优先推荐附近更容易、近期有人成功的替代缓存。</a:t>
            </a:r>
          </a:p>
        </p:txBody>
      </p:sp>
    </p:spTree>
    <p:extLst>
      <p:ext uri="{BB962C8B-B14F-4D97-AF65-F5344CB8AC3E}">
        <p14:creationId xmlns:p14="http://schemas.microsoft.com/office/powerpoint/2010/main" val="869228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E58B5-3C5F-4635-9864-044EA845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16796-AF5A-4DEE-B123-F1553417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长期活跃与早期体验深度高度相关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A38ED-CB28-4074-826E-C5E62DB0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注册后 30 天达到 10 找的用户，后续活跃明显高于浅层体验用户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81551-5FCC-4AC6-9C75-0D988E1C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415B5-B9D6-47CD-9F55-18A9EA13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78f77c1ce64e6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2DBEC-42B7-46A3-BB38-E33A6913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最强行为信号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03946-82FB-4C28-AD93-751E815B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早期完成多次寻宝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8B50F-1E8C-40B5-A266-032C62CB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这是一种行为关联，可能同时反映用户原本的兴趣强度，不能直接解释为因果。</a:t>
            </a:r>
          </a:p>
        </p:txBody>
      </p:sp>
    </p:spTree>
    <p:extLst>
      <p:ext uri="{BB962C8B-B14F-4D97-AF65-F5344CB8AC3E}">
        <p14:creationId xmlns:p14="http://schemas.microsoft.com/office/powerpoint/2010/main" val="5868530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A216F-7F56-46FF-8AA4-C8A10B9A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6D584-D36F-484B-84E9-2166DF5F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最大的经营机会集中在浅层体验用户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09377-F5B9-4E8D-965A-6B7FD36A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多数成熟用户停留在 1–9 找，规模远大于完全未体验或已经形成深度习惯的人群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19A9E-7442-4688-AAA4-8665F7F0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33814-CB17-45FD-B55D-967E7A39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eddc0ece52419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A8354-ADB5-4B4B-8B8E-6ED1405B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经营判断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95533-C144-4D27-87F2-E9C9F78A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这批用户已经理解玩法，下一次行动的教育成本最低。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D9DFA-3C7F-4682-A7E3-1B7D582B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适合用城市路线、阶段进度和附近推荐推动继续参与。</a:t>
            </a:r>
          </a:p>
        </p:txBody>
      </p:sp>
    </p:spTree>
    <p:extLst>
      <p:ext uri="{BB962C8B-B14F-4D97-AF65-F5344CB8AC3E}">
        <p14:creationId xmlns:p14="http://schemas.microsoft.com/office/powerpoint/2010/main" val="8581399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A4771A-ABB5-40A3-8BCD-C5F7BE29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EF27A-A624-41FD-AD5D-3A95DB57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新用户承接模型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14632-7728-4B2E-BCA9-FC16644A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将内容流量转化为可重复的新手体验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2AF29-1DD8-407E-AD81-4B520CCC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4CBCA-D9CF-4286-AA89-95B41641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8B67C-EB26-4A5F-80CB-9FFEB1C5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FBC2C-446F-4972-A40D-85D5F7CD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内容触达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0AF0F-DE48-4F20-A717-D6F575DF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城市落地页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玩法预期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B0EFC-8D9F-49D0-B097-1945BB4E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6DC6B-BD64-4E4F-A94B-C92678E5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95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C6F93-BE25-46AB-B09A-2058E14B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首次尝试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7F825-11F3-4589-9D42-4FD73586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新手缓存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路线推荐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A693C-A365-4DDA-B23A-E4CDCF31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05724-1C76-4671-B7D1-D673E90A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5D294-8F72-4F79-A11F-793DAE13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首次成功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175CA-EDAE-45FD-95BF-C7B0F95A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DNF 救援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替代缓存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37F62-9FBA-402E-9400-9BBDEB34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7DBCD-0543-4386-9C69-3B8C6469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95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39CB3-3387-4A71-9124-FD3A3294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连续体验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75AD2-FC7F-4E1E-8CF9-56E3432C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 / 5 / 10 找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阶段进度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E2A83-EC16-4671-8CB1-691B3191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970A2-698D-4523-9714-949813E1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954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4ECC8-9DE0-4DAC-B089-C77F9D47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周期回归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DB20A7-8ABA-45C2-B9C8-88051FC1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假期与天气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低频召回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70ECD7-53DD-4D96-A980-701EAD43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210B4-69A8-4770-B48B-26578F69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核心原则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007172-46D8-4BDB-9C15-18A0A9E9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720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每一步只解决一个阻力：不知道怎么玩、第一次失败、缺少下一目标、长期没有合适时机。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888DFB-AEAB-4032-AC6C-AB5B4AB8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视频传播前准备承接内容，传播后重点监控首次尝试到首次成功的转化。</a:t>
            </a:r>
          </a:p>
        </p:txBody>
      </p:sp>
    </p:spTree>
    <p:extLst>
      <p:ext uri="{BB962C8B-B14F-4D97-AF65-F5344CB8AC3E}">
        <p14:creationId xmlns:p14="http://schemas.microsoft.com/office/powerpoint/2010/main" val="17668833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A2369-77CE-43D4-9029-3739D7D5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F08CE-DC80-4B02-8E75-94B9B1F5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未来 90 天的管理议程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B13DE-2D6E-4A80-88DD-20925E98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先修复转化断点，再决定是否扩大内容投放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34914-5168-4A4D-B9FF-83DE8CC4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1E3F9-C001-4E7A-B0B7-62360CE8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80FB2-3371-4410-9768-FB660C2B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优先事项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69C2B-EE07-4FCB-8B23-516E29B4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430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具体动作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84C1B-9AEC-4847-9C91-DA4CA0EE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管理指标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F0AFD-0616-45BB-9F0A-E5F0B1B6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新手承接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1E37B-97E9-4463-8F12-9F6D2A5B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建立重点城市的新手路线和可用缓存清单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F9324-49A2-4C4A-BF71-1C4FF98D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首次成功率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DBE0C-C934-4CD9-A8C4-F4E22197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55672-B66F-4DCD-9E90-2CC1DCB7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失败恢复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8D164-7847-4F6A-8A93-C9DEC1E2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241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后推荐附近更容易的替代缓存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BB407-5A82-46B3-84AB-949CBF1E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241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30 天恢复率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72F9F-668F-426A-9739-CB199125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E2477-264F-4E31-AAB8-0F2440C6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深度推进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E3CA4-4B91-4770-A213-E623A5C5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004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为 1–9 找用户设计 3 / 5 / 10 找阶段任务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CBF3E-47A0-4C07-BB12-30227F94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00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早期深度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7B422-DBF5-4953-9CCF-5ACF7855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E8A1A-925B-43D4-ACF0-92DF60AD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渠道验证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67981A-79D1-4665-80DB-36EC9772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记录来源、内容曝光和推荐展示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63408-C752-46FD-8826-7B1CFB7E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76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渠道质量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7E427-81D8-4B6E-8209-61693FEE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726191-824B-4FC6-A5ED-5716211E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决策边界：当前证据支持优先改善承接，但尚不足以计算视频渠道 ROI。</a:t>
            </a:r>
          </a:p>
        </p:txBody>
      </p:sp>
    </p:spTree>
    <p:extLst>
      <p:ext uri="{BB962C8B-B14F-4D97-AF65-F5344CB8AC3E}">
        <p14:creationId xmlns:p14="http://schemas.microsoft.com/office/powerpoint/2010/main" val="1294996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2026-09-12T07:53:58.1640000Z</dcterms:created>
  <dcterms:modified xsi:type="dcterms:W3CDTF">2026-09-12T07:53:58.1640000Z</dcterms:modified>
</coreProperties>
</file>