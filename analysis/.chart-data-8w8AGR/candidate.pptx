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cee93144154844" /><Relationship Type="http://schemas.openxmlformats.org/officeDocument/2006/relationships/extended-properties" Target="/docProps/app.xml" Id="R163f0a9f11c141e3" /><Relationship Type="http://schemas.openxmlformats.org/officeDocument/2006/relationships/officeDocument" Target="/ppt/presentation.xml" Id="R75d1ed05438e4e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d3ad8a12244cd0"/>
  </p:sldMasterIdLst>
  <p:notesMasterIdLst>
    <p:notesMasterId xmlns:r="http://schemas.openxmlformats.org/officeDocument/2006/relationships" r:id="R928b72e8e7f241bb"/>
  </p:notesMasterIdLst>
  <p:sldIdLst>
    <p:sldId xmlns:r="http://schemas.openxmlformats.org/officeDocument/2006/relationships" id="256" r:id="Rf7964bb4b5a54b5c"/>
    <p:sldId xmlns:r="http://schemas.openxmlformats.org/officeDocument/2006/relationships" id="257" r:id="Rfabd90d1aa0c48af"/>
    <p:sldId xmlns:r="http://schemas.openxmlformats.org/officeDocument/2006/relationships" id="258" r:id="R094e09a9939f4d6d"/>
    <p:sldId xmlns:r="http://schemas.openxmlformats.org/officeDocument/2006/relationships" id="259" r:id="Rede62af7cdeb471c"/>
    <p:sldId xmlns:r="http://schemas.openxmlformats.org/officeDocument/2006/relationships" id="260" r:id="R5cb7d05111724719"/>
    <p:sldId xmlns:r="http://schemas.openxmlformats.org/officeDocument/2006/relationships" id="261" r:id="R9667fe6820444174"/>
    <p:sldId xmlns:r="http://schemas.openxmlformats.org/officeDocument/2006/relationships" id="262" r:id="Rf01d381040e74ba6"/>
    <p:sldId xmlns:r="http://schemas.openxmlformats.org/officeDocument/2006/relationships" id="263" r:id="R545850d5d4784b13"/>
    <p:sldId xmlns:r="http://schemas.openxmlformats.org/officeDocument/2006/relationships" id="264" r:id="Rbc28057bc78240f0"/>
    <p:sldId xmlns:r="http://schemas.openxmlformats.org/officeDocument/2006/relationships" id="265" r:id="R09a3d3c1c7634c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52d2289e724c1b" /><Relationship Type="http://schemas.openxmlformats.org/officeDocument/2006/relationships/slideMaster" Target="/ppt/slideMasters/slideMaster1.xml" Id="R30d3ad8a12244cd0" /><Relationship Type="http://schemas.openxmlformats.org/officeDocument/2006/relationships/notesMaster" Target="/ppt/notesMasters/notesMaster1.xml" Id="R928b72e8e7f241bb" /><Relationship Type="http://schemas.openxmlformats.org/officeDocument/2006/relationships/presProps" Target="/ppt/presProps.xml" Id="R88b26ff0a9414b9d" /><Relationship Type="http://schemas.openxmlformats.org/officeDocument/2006/relationships/tableStyles" Target="/ppt/tableStyles.xml" Id="Raae300b102a14d16" /><Relationship Type="http://schemas.openxmlformats.org/officeDocument/2006/relationships/slide" Target="/ppt/slides/slide1.xml" Id="Rf7964bb4b5a54b5c" /><Relationship Type="http://schemas.openxmlformats.org/officeDocument/2006/relationships/slide" Target="/ppt/slides/slide2.xml" Id="Rfabd90d1aa0c48af" /><Relationship Type="http://schemas.openxmlformats.org/officeDocument/2006/relationships/slide" Target="/ppt/slides/slide3.xml" Id="R094e09a9939f4d6d" /><Relationship Type="http://schemas.openxmlformats.org/officeDocument/2006/relationships/slide" Target="/ppt/slides/slide4.xml" Id="Rede62af7cdeb471c" /><Relationship Type="http://schemas.openxmlformats.org/officeDocument/2006/relationships/slide" Target="/ppt/slides/slide5.xml" Id="R5cb7d05111724719" /><Relationship Type="http://schemas.openxmlformats.org/officeDocument/2006/relationships/slide" Target="/ppt/slides/slide6.xml" Id="R9667fe6820444174" /><Relationship Type="http://schemas.openxmlformats.org/officeDocument/2006/relationships/slide" Target="/ppt/slides/slide7.xml" Id="Rf01d381040e74ba6" /><Relationship Type="http://schemas.openxmlformats.org/officeDocument/2006/relationships/slide" Target="/ppt/slides/slide8.xml" Id="R545850d5d4784b13" /><Relationship Type="http://schemas.openxmlformats.org/officeDocument/2006/relationships/slide" Target="/ppt/slides/slide9.xml" Id="Rbc28057bc78240f0" /><Relationship Type="http://schemas.openxmlformats.org/officeDocument/2006/relationships/slide" Target="/ppt/slides/slide10.xml" Id="R09a3d3c1c7634c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93561ca42746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31eae757584fed" /><Relationship Type="http://schemas.openxmlformats.org/officeDocument/2006/relationships/notesMaster" Target="/ppt/notesMasters/notesMaster1.xml" Id="Re1a16f494e6c4d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cf44d0319e42ed" /><Relationship Type="http://schemas.openxmlformats.org/officeDocument/2006/relationships/notesMaster" Target="/ppt/notesMasters/notesMaster1.xml" Id="Re7f3c0f4128343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a398af1f5144d7" /><Relationship Type="http://schemas.openxmlformats.org/officeDocument/2006/relationships/notesMaster" Target="/ppt/notesMasters/notesMaster1.xml" Id="R5c978f1e34424c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40f0fa47474e63" /><Relationship Type="http://schemas.openxmlformats.org/officeDocument/2006/relationships/notesMaster" Target="/ppt/notesMasters/notesMaster1.xml" Id="R1f005d1c3a014f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8604934af547f2" /><Relationship Type="http://schemas.openxmlformats.org/officeDocument/2006/relationships/notesMaster" Target="/ppt/notesMasters/notesMaster1.xml" Id="R9f4ba67a36914d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d8b5e0f36a4698" /><Relationship Type="http://schemas.openxmlformats.org/officeDocument/2006/relationships/notesMaster" Target="/ppt/notesMasters/notesMaster1.xml" Id="Rdceda369f5e24c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9cf1a4c145459f" /><Relationship Type="http://schemas.openxmlformats.org/officeDocument/2006/relationships/notesMaster" Target="/ppt/notesMasters/notesMaster1.xml" Id="R4304f9a846664a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d6168546744747" /><Relationship Type="http://schemas.openxmlformats.org/officeDocument/2006/relationships/notesMaster" Target="/ppt/notesMasters/notesMaster1.xml" Id="R4dba820a77a74e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a58fea7d58445b" /><Relationship Type="http://schemas.openxmlformats.org/officeDocument/2006/relationships/notesMaster" Target="/ppt/notesMasters/notesMaster1.xml" Id="R7b98d9cd48e541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1788b9a4514c77" /><Relationship Type="http://schemas.openxmlformats.org/officeDocument/2006/relationships/notesMaster" Target="/ppt/notesMasters/notesMaster1.xml" Id="R61623d88afb341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2026-09-10。本报告描述在大中华区缓存日志中被观察到的用户，不代表 Geocaching 全部注册用户。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2026-09-10。年度口径为在大中华区缓存日志中被观察到、且注册日期已知的用户。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2026-09-10。日均值按各观察窗口总人数除以窗口天数计算。2023 发布前 30 天、发布后 7 天；2025 发布前 7 天、高播放合并窗口 8 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2026-09-10。对象为 2025-08-06 至 08-13 注册且 reg_place=China 的 D30 成熟用户；对照为相邻月份。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2026-09-10。视频窗口新人失败样本 218 人；相邻月份 65 人。可比较的恢复记录中，视频窗口 87 人里 80 人通过其他缓存恢复。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2026-09-10。China 用户总体成熟样本。M12 指注册后第 360–389 天在大中华区缓存上至少一次有效参与。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2026-09-10。年度生命周期结构按注册后前 90 天 Found it 深度汇总，仅用于描述结构。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2026-09-10。本页为基于行为证据形成的运营建议，不代表已验证的因果效果。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2026-09-10。reg_place 是分析归属，不代表居住地；所有视频结论属于观察性证据。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497c07ffba4e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afc42927df43c7" /><Relationship Type="http://schemas.openxmlformats.org/officeDocument/2006/relationships/slideLayout" Target="/ppt/slideLayouts/slideLayout1.xml" Id="Rb496f35764b145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96f35764b145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1999a53c94595" /><Relationship Type="http://schemas.openxmlformats.org/officeDocument/2006/relationships/notesSlide" Target="/ppt/notesSlides/notesSlide1.xml" Id="Rd2fb4bbd02974e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a711dc79c4d1e" /><Relationship Type="http://schemas.openxmlformats.org/officeDocument/2006/relationships/notesSlide" Target="/ppt/notesSlides/notesSlide2.xml" Id="R10dad75f491645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63a4b7b5949ee" /><Relationship Type="http://schemas.openxmlformats.org/officeDocument/2006/relationships/chart" Target="/ppt/slides/charts/chart1.xml" Id="R673cf61fd8d94085" /><Relationship Type="http://schemas.openxmlformats.org/officeDocument/2006/relationships/notesSlide" Target="/ppt/notesSlides/notesSlide3.xml" Id="Rff02b70eed2c43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5206f93f24fed" /><Relationship Type="http://schemas.openxmlformats.org/officeDocument/2006/relationships/chart" Target="/ppt/slides/charts/chart2.xml" Id="R8d3a3b45c9bf49a3" /><Relationship Type="http://schemas.openxmlformats.org/officeDocument/2006/relationships/notesSlide" Target="/ppt/notesSlides/notesSlide4.xml" Id="R10ced003eef24b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848c857664e51" /><Relationship Type="http://schemas.openxmlformats.org/officeDocument/2006/relationships/chart" Target="/ppt/slides/charts/chart3.xml" Id="R2d876403feeb453a" /><Relationship Type="http://schemas.openxmlformats.org/officeDocument/2006/relationships/notesSlide" Target="/ppt/notesSlides/notesSlide5.xml" Id="Rf80b3c5032de49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a22839bf14c1a" /><Relationship Type="http://schemas.openxmlformats.org/officeDocument/2006/relationships/chart" Target="/ppt/slides/charts/chart4.xml" Id="Rbb8f7d28a9d44409" /><Relationship Type="http://schemas.openxmlformats.org/officeDocument/2006/relationships/notesSlide" Target="/ppt/notesSlides/notesSlide6.xml" Id="R1e306159203b46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a5f4939ce42a5" /><Relationship Type="http://schemas.openxmlformats.org/officeDocument/2006/relationships/chart" Target="/ppt/slides/charts/chart5.xml" Id="Rd544c8dc8f8a4c8f" /><Relationship Type="http://schemas.openxmlformats.org/officeDocument/2006/relationships/notesSlide" Target="/ppt/notesSlides/notesSlide7.xml" Id="R07a764ddde2e48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2cb06658a4fc9" /><Relationship Type="http://schemas.openxmlformats.org/officeDocument/2006/relationships/chart" Target="/ppt/slides/charts/chart6.xml" Id="R1cd829f40ffe468d" /><Relationship Type="http://schemas.openxmlformats.org/officeDocument/2006/relationships/notesSlide" Target="/ppt/notesSlides/notesSlide8.xml" Id="Rf0aae071089348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ebe5600eb41ae" /><Relationship Type="http://schemas.openxmlformats.org/officeDocument/2006/relationships/notesSlide" Target="/ppt/notesSlides/notesSlide9.xml" Id="R81ef65d7340640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ed2fcca2f4c42" /><Relationship Type="http://schemas.openxmlformats.org/officeDocument/2006/relationships/notesSlide" Target="/ppt/notesSlides/notesSlide10.xml" Id="Rb9adee354589437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可观察用户</c:v>
          </c:tx>
          <c:spPr>
            <a:solidFill xmlns:a="http://schemas.openxmlformats.org/drawingml/2006/main">
              <a:srgbClr val="176B87"/>
            </a:solidFill>
          </c:spPr>
          <c:cat>
            <c:numRef>
              <c:f>'Chart Data'!$A$2:$A$3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2510</c:v>
                </c:pt>
                <c:pt idx="1">
                  <c:v>4478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日均观察用户</c:v>
          </c:tx>
          <c:spPr>
            <a:solidFill xmlns:a="http://schemas.openxmlformats.org/drawingml/2006/main">
              <a:srgbClr val="2F9C95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E58A3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58A3A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2023 发布前</c:v>
                </c:pt>
                <c:pt idx="1">
                  <c:v>2023 发布后</c:v>
                </c:pt>
                <c:pt idx="2">
                  <c:v>2025 发布前</c:v>
                </c:pt>
                <c:pt idx="3">
                  <c:v>2025 高播放窗口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5.1</c:v>
                </c:pt>
                <c:pt idx="1">
                  <c:v>35.1</c:v>
                </c:pt>
                <c:pt idx="2">
                  <c:v>7.7</c:v>
                </c:pt>
                <c:pt idx="3">
                  <c:v>77.9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视频窗口</c:v>
          </c:tx>
          <c:spPr>
            <a:solidFill xmlns:a="http://schemas.openxmlformats.org/drawingml/2006/main">
              <a:srgbClr val="E58A3A"/>
            </a:solidFill>
          </c:spPr>
          <c:cat>
            <c:strRef>
              <c:f>'Chart Data'!$A$2:$A$6</c:f>
              <c:strCache>
                <c:ptCount val="5"/>
                <c:pt idx="0">
                  <c:v>有行动</c:v>
                </c:pt>
                <c:pt idx="1">
                  <c:v>至少 1 找</c:v>
                </c:pt>
                <c:pt idx="2">
                  <c:v>至少 3 找</c:v>
                </c:pt>
                <c:pt idx="3">
                  <c:v>至少 5 找</c:v>
                </c:pt>
                <c:pt idx="4">
                  <c:v>至少 10 找</c:v>
                </c:pt>
              </c:strCache>
            </c:strRef>
          </c:cat>
          <c:val>
            <c:numRef>
              <c:f>'Chart Data'!$B$2:$B$6</c:f>
              <c:numCache>
                <c:formatCode>0%</c:formatCode>
                <c:ptCount val="5"/>
                <c:pt idx="0">
                  <c:v>0.826</c:v>
                </c:pt>
                <c:pt idx="1">
                  <c:v>0.56</c:v>
                </c:pt>
                <c:pt idx="2">
                  <c:v>0.136</c:v>
                </c:pt>
                <c:pt idx="3">
                  <c:v>0.068</c:v>
                </c:pt>
                <c:pt idx="4">
                  <c:v>0.021</c:v>
                </c:pt>
              </c:numCache>
            </c:numRef>
          </c:val>
        </c:ser>
        <c:ser>
          <c:idx val="1"/>
          <c:order val="1"/>
          <c:tx>
            <c:v>相邻月份</c:v>
          </c:tx>
          <c:spPr>
            <a:solidFill xmlns:a="http://schemas.openxmlformats.org/drawingml/2006/main">
              <a:srgbClr val="176B87"/>
            </a:solidFill>
          </c:spPr>
          <c:cat>
            <c:strRef>
              <c:f>'Chart Data'!$C$2:$C$6</c:f>
              <c:strCache>
                <c:ptCount val="5"/>
                <c:pt idx="0">
                  <c:v>有行动</c:v>
                </c:pt>
                <c:pt idx="1">
                  <c:v>至少 1 找</c:v>
                </c:pt>
                <c:pt idx="2">
                  <c:v>至少 3 找</c:v>
                </c:pt>
                <c:pt idx="3">
                  <c:v>至少 5 找</c:v>
                </c:pt>
                <c:pt idx="4">
                  <c:v>至少 10 找</c:v>
                </c:pt>
              </c:strCache>
            </c:strRef>
          </c:cat>
          <c:val>
            <c:numRef>
              <c:f>'Chart Data'!$D$2:$D$6</c:f>
              <c:numCache>
                <c:formatCode>0%</c:formatCode>
                <c:ptCount val="5"/>
                <c:pt idx="0">
                  <c:v>0.751</c:v>
                </c:pt>
                <c:pt idx="1">
                  <c:v>0.628</c:v>
                </c:pt>
                <c:pt idx="2">
                  <c:v>0.173</c:v>
                </c:pt>
                <c:pt idx="3">
                  <c:v>0.126</c:v>
                </c:pt>
                <c:pt idx="4">
                  <c:v>0.047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B677A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首次 DNF 后 30 天内恢复</c:v>
          </c:tx>
          <c:spPr>
            <a:solidFill xmlns:a="http://schemas.openxmlformats.org/drawingml/2006/main">
              <a:srgbClr val="C94C4C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176B8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视频窗口</c:v>
                </c:pt>
                <c:pt idx="1">
                  <c:v>相邻月份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0.358</c:v>
                </c:pt>
                <c:pt idx="1">
                  <c:v>0.538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0.6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M12 活跃率</c:v>
          </c:tx>
          <c:spPr>
            <a:solidFill xmlns:a="http://schemas.openxmlformats.org/drawingml/2006/main">
              <a:srgbClr val="176B87"/>
            </a:solidFill>
          </c:spPr>
          <c:dPt>
            <c:idx val="2"/>
            <c:invertIfNegative val="0"/>
            <c:spPr>
              <a:solidFill xmlns:a="http://schemas.openxmlformats.org/drawingml/2006/main">
                <a:srgbClr val="E58A3A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0 找</c:v>
                </c:pt>
                <c:pt idx="1">
                  <c:v>1–9 找</c:v>
                </c:pt>
                <c:pt idx="2">
                  <c:v>10+ 找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0.042</c:v>
                </c:pt>
                <c:pt idx="1">
                  <c:v>0.034</c:v>
                </c:pt>
                <c:pt idx="2">
                  <c:v>0.218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0.2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percentStacked"/>
        <c:varyColors val="0"/>
        <c:ser>
          <c:idx val="0"/>
          <c:order val="0"/>
          <c:tx>
            <c:v>0 找</c:v>
          </c:tx>
          <c:spPr>
            <a:solidFill xmlns:a="http://schemas.openxmlformats.org/drawingml/2006/main">
              <a:srgbClr val="A8B2BE"/>
            </a:solidFill>
          </c:spPr>
          <c:cat>
            <c:numRef>
              <c:f>'Chart Data'!$A$2:$A$3</c:f>
              <c:numCache>
                <c:formatCode>0%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0.311</c:v>
                </c:pt>
                <c:pt idx="1">
                  <c:v>0.232</c:v>
                </c:pt>
              </c:numCache>
            </c:numRef>
          </c:val>
        </c:ser>
        <c:ser>
          <c:idx val="1"/>
          <c:order val="1"/>
          <c:tx>
            <c:v>1–9 找</c:v>
          </c:tx>
          <c:spPr>
            <a:solidFill xmlns:a="http://schemas.openxmlformats.org/drawingml/2006/main">
              <a:srgbClr val="176B87"/>
            </a:solidFill>
          </c:spPr>
          <c:cat>
            <c:numRef>
              <c:f>'Chart Data'!$C$2:$C$3</c:f>
              <c:numCache>
                <c:formatCode>0%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Data'!$D$2:$D$3</c:f>
              <c:numCache>
                <c:formatCode>0%</c:formatCode>
                <c:ptCount val="2"/>
                <c:pt idx="0">
                  <c:v>0.602</c:v>
                </c:pt>
                <c:pt idx="1">
                  <c:v>0.672</c:v>
                </c:pt>
              </c:numCache>
            </c:numRef>
          </c:val>
        </c:ser>
        <c:ser>
          <c:idx val="2"/>
          <c:order val="2"/>
          <c:tx>
            <c:v>10+ 找</c:v>
          </c:tx>
          <c:spPr>
            <a:solidFill xmlns:a="http://schemas.openxmlformats.org/drawingml/2006/main">
              <a:srgbClr val="E58A3A"/>
            </a:solidFill>
          </c:spPr>
          <c:cat>
            <c:numRef>
              <c:f>'Chart Data'!$E$2:$E$3</c:f>
              <c:numCache>
                <c:formatCode>0%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Data'!$F$2:$F$3</c:f>
              <c:numCache>
                <c:formatCode>0%</c:formatCode>
                <c:ptCount val="2"/>
                <c:pt idx="0">
                  <c:v>0.087</c:v>
                </c:pt>
                <c:pt idx="1">
                  <c:v>0.096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B677A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1BCB08-B98E-4DA0-ACB3-A820CC85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762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8442E-2760-404C-944F-B96CCB0C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811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大中华区用户增长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6F70B-0A8E-4120-894B-E8C98D2A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4310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FE2E8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CFE2E8"/>
                </a:solidFill>
                <a:latin typeface="Noto Sans SC"/>
                <a:ea typeface="Noto Sans SC"/>
                <a:cs typeface="Noto Sans SC"/>
              </a:rPr>
              <a:t>从流量涌入到持续参与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7430E-FB7E-42EA-83A5-3DBDF4E5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0E5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D7E0E5"/>
                </a:solidFill>
                <a:latin typeface="Noto Sans SC"/>
                <a:ea typeface="Noto Sans SC"/>
                <a:cs typeface="Noto Sans SC"/>
              </a:rPr>
              <a:t>Geocaching 用户行为与增长机会分析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3CB6E-99AA-431F-A1F2-795D8790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10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rPr>
              <a:t>数据截止 2026-09-10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269D25-98FE-46FD-91F6-DC3F3BFF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410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rPr>
              <a:t>管理层汇报</a:t>
            </a:r>
          </a:p>
        </p:txBody>
      </p:sp>
    </p:spTree>
    <p:extLst>
      <p:ext uri="{BB962C8B-B14F-4D97-AF65-F5344CB8AC3E}">
        <p14:creationId xmlns:p14="http://schemas.microsoft.com/office/powerpoint/2010/main" val="1465128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D76C8D-5481-46D7-B0E5-75E83102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43C5B5-A51F-45B8-B137-E47C7E99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管理层结论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EF217A-5511-4C02-A77B-5AC5086C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增长入口已经得到验证，经营重点应转向新用户承接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EA1FF-0BD0-4777-916B-3919096A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91443-904F-46D5-8877-F05F62CE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169E3-EE5D-4546-9023-F333DEA6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93017-2B13-46E4-B916-F839CD7F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5621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内容传播能够快速扩大入口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2551F-9819-4798-B7BB-2D0C5DE2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5621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两次高影响力视频都带来明显的中国用户涌入，说明外部内容是有效获客渠道。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6E92C-30A9-46B7-9932-A056AE36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E25495-720C-4EF4-95AD-BB6BEECD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F990D9-5380-4AF6-892B-D68C8A0D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670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流量没有自然转化为长期参与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8902A8-D3CF-4016-A744-A53F128C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670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视频用户愿意尝试，但首次成功、连续体验和后续活跃均弱于相邻时期。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34412-F82B-48DF-B1D8-E87E37F2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8B175D-1CCE-4C57-A808-58524475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3720B8-8B62-444A-A4DF-FA5C05B1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719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早期深度比首找速度更重要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3F55C-53B5-4677-8C8A-40C2E102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719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长期活跃与注册后完成多次寻宝高度相关，单纯追求注册当天首找价值有限。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CD01D7-27DB-4434-8785-5EECF3B1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58810B-0639-496E-B87F-4092B766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C6A372-C9E0-46C4-B665-1FB2DC3E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768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首次失败是最清晰的干预点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BE7215-0B2F-4751-8C9E-F3A67057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768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只出现 DNF 的新用户最容易流失，恢复者通常通过另一个缓存获得成功。</a:t>
            </a:r>
          </a:p>
        </p:txBody>
      </p:sp>
    </p:spTree>
    <p:extLst>
      <p:ext uri="{BB962C8B-B14F-4D97-AF65-F5344CB8AC3E}">
        <p14:creationId xmlns:p14="http://schemas.microsoft.com/office/powerpoint/2010/main" val="5145348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178A3A-5879-4866-AB2E-F7326BFE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AA1F8-F421-474A-B0E5-AE1C3FCF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可观察用户规模显著扩大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472A7-20FE-417F-AEBC-024A033B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2025 年增长伴随早期质量小幅改善，但不等于平台总注册增长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DD692-0111-493C-944E-7A4B2A84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E7E79-725C-4EA8-BB38-1803498D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762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3cf61fd8d9408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BAACA-CBC3-40C6-81AC-A2F7BBA4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24500"/>
            <a:ext cx="649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BD404-F080-43A0-85CA-2FD5D416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638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2024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69814F-2B84-4E0C-B3F2-BD0A6356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638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2025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99749E-5FAC-4C14-BD12-142B0184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76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4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+78%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BBB234-F480-4BC8-BFE0-A27F62B0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813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较 2024 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1F6DE0-0601-49E5-9A77-A3116344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375C4B-8711-4172-BBCA-A02FA0A5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90950"/>
            <a:ext cx="304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增长是真实的观察结果，但用户进入样本的前提是在大中华区留下日志。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E7D2A0-A142-4754-8FBB-05F34AEB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因此应将其视为参与规模增长，而非平台整体注册增长。</a:t>
            </a:r>
          </a:p>
        </p:txBody>
      </p:sp>
    </p:spTree>
    <p:extLst>
      <p:ext uri="{BB962C8B-B14F-4D97-AF65-F5344CB8AC3E}">
        <p14:creationId xmlns:p14="http://schemas.microsoft.com/office/powerpoint/2010/main" val="10652726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AE226C-8AFB-4338-8173-E4F361E4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AB03D8-072D-4E82-9477-F76714FC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头部视频带来强烈且中国用户占比高的流量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747F6-5FB3-4D00-81B7-24B2B3B7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发布后的日均观察用户远高于发布前，后续低播放内容未复制同等效果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9C2E8F-B1F8-405C-B943-CDD45381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CC594-885F-48BA-9AD9-24FF4E2E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7429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3a3b45c9bf49a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36C652-574A-45BC-9E8D-13BC6874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发布窗口中的 China 用户占比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B1289-3527-4336-A32B-54ECE7DA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622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约 8 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C50ABB-5570-49A0-939D-B536296E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908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2023 与 2025 两次事件方向一致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DD6B7D-4B66-46DC-9942-AAB339DE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时间吻合支持视频是重要来源，但现有数据不能排除转发和同期传播。</a:t>
            </a:r>
          </a:p>
        </p:txBody>
      </p:sp>
    </p:spTree>
    <p:extLst>
      <p:ext uri="{BB962C8B-B14F-4D97-AF65-F5344CB8AC3E}">
        <p14:creationId xmlns:p14="http://schemas.microsoft.com/office/powerpoint/2010/main" val="4619731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B2F8B-095F-47BD-A1FF-10C46B6C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20728-3FE0-46A6-926A-F39F206E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视频用户愿意行动，但没有顺利进入持续体验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A107C-58E9-495B-9C57-B31CAC4A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主要损失发生在已经尝试之后，尤其是首次成功与多次寻找之间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5E035-38C3-449A-A045-98B96B10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6840F-69AE-43C6-9D3A-8DF64EA4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8572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876403feeb453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42B9E-CBC0-4098-BE8C-F59D8895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1905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流量规模扩大后，承接能力没有同步扩大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B444C-CCAB-47A7-BC9E-1C1954FA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0"/>
            <a:ext cx="190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运营重点应放在首次成功和从 1 找进入连续体验。</a:t>
            </a:r>
          </a:p>
        </p:txBody>
      </p:sp>
    </p:spTree>
    <p:extLst>
      <p:ext uri="{BB962C8B-B14F-4D97-AF65-F5344CB8AC3E}">
        <p14:creationId xmlns:p14="http://schemas.microsoft.com/office/powerpoint/2010/main" val="7843115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BB4BC8-B0CD-4272-8E8F-C9812B47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10EB4-17E8-4B7C-BC53-2299029D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首次失败后，恢复路径比失败本身更重要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87C11-42DB-46BD-9AAA-402DC1D1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视频用户的 30 天恢复弱于相邻月份，成功恢复者通常选择另一个缓存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FB7E2-E5E5-4DD6-859A-73781916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262F9-C9BC-4ED4-A0EE-A19A8C8B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838200" y="1857375"/>
          <a:ext xmlns:a="http://schemas.openxmlformats.org/drawingml/2006/main" cx="5334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8f7d28a9d4440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3F9EB-EA0E-40A0-B50C-5946AE2A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恢复者中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F9031-CF97-4699-A500-12F74AD4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3524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37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绝大多数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C0D52-4C24-4758-8098-248EA58C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623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通过另一个缓存完成首次成功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603327-C97B-4A1E-86EB-8DCC6148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6240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1CB59E-F1ED-4542-8F13-9C6331BD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产品含义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C2E1AA-86B9-403A-A0E6-0136FEB4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9582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 DNF 后优先推荐附近更容易、近期有人成功的替代缓存。</a:t>
            </a:r>
          </a:p>
        </p:txBody>
      </p:sp>
    </p:spTree>
    <p:extLst>
      <p:ext uri="{BB962C8B-B14F-4D97-AF65-F5344CB8AC3E}">
        <p14:creationId xmlns:p14="http://schemas.microsoft.com/office/powerpoint/2010/main" val="4215755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BDBA9C-7153-4940-9C61-85CD8FFC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2C28B-E43D-48D8-8D8A-C59349EA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长期活跃与早期体验深度高度相关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E79E5-8D71-4D13-A5DC-AE956710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注册后 30 天达到 10 找的用户，后续活跃明显高于浅层体验用户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325E2-D7B6-459F-9E8F-8DB0A595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74376-16E0-41C8-977A-88C36FD3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7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6572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44c8dc8f8a4c8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4501CA-FB30-43B9-AE9D-805CF0F3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29250"/>
            <a:ext cx="623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38102-8344-4058-A57F-E9258229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24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0 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BED2F-B740-404F-BA0F-4957BAFA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524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1–9 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84DAA-5CA0-4B3B-8146-CDA9C1C8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524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10+ 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5EB23-CA62-414D-A9D1-76065BC4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最强行为信号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C0CB2-AB22-4A67-BA3A-4D43919A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早期完成多次寻宝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D48857-CA6A-436F-ADF7-B705DE57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这是一种行为关联，可能同时反映用户原本的兴趣强度，不能直接解释为因果。</a:t>
            </a:r>
          </a:p>
        </p:txBody>
      </p:sp>
    </p:spTree>
    <p:extLst>
      <p:ext uri="{BB962C8B-B14F-4D97-AF65-F5344CB8AC3E}">
        <p14:creationId xmlns:p14="http://schemas.microsoft.com/office/powerpoint/2010/main" val="5013681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61AE88-7E55-4AF0-9702-424EC7F8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628D3-999E-4A60-B54E-8B796A32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最大的经营机会集中在浅层体验用户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7112A-12D9-4BFB-BF1E-008BA129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多数成熟用户停留在 1–9 找，规模远大于完全未体验或已经形成深度习惯的人群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9B040-D766-4ED2-B97F-24733324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BE625-989B-4278-B8DD-2FD206E8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8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62000" y="1809750"/>
          <a:ext xmlns:a="http://schemas.openxmlformats.org/drawingml/2006/main" cx="7239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d829f40ffe468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C7A94-65B6-4AF7-8FFC-9C44EF25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526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经营判断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8CB07C-35E7-40B2-8AAF-9A877D34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57450"/>
            <a:ext cx="247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这批用户已经理解玩法，下一次行动的教育成本最低。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DBDF0-FECE-4925-899B-FE023BCE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适合用城市路线、阶段进度和附近推荐推动继续参与。</a:t>
            </a:r>
          </a:p>
        </p:txBody>
      </p:sp>
    </p:spTree>
    <p:extLst>
      <p:ext uri="{BB962C8B-B14F-4D97-AF65-F5344CB8AC3E}">
        <p14:creationId xmlns:p14="http://schemas.microsoft.com/office/powerpoint/2010/main" val="395868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70F8A8-ACD5-4A2D-85A7-DB9F6B93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A2381-B5AC-4399-8841-5E556425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新用户承接模型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AC916-6388-4A2C-B9C3-0607EE8D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将内容流量转化为可重复的新手体验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059145-93D3-4170-9BDE-8EA30F9F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DBE33-F77E-40C6-B629-58CE5583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1EB36-D8E4-4EFA-B07E-AE61339E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27142-9F1F-47CC-B5BC-CD34EA96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内容触达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BE38D-5B2B-4244-9C51-2A845E10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城市落地页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玩法预期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268655-6747-45D1-834B-6CE9363D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F9ABE7-D99C-47F3-8E89-F09E45F4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6954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10192F-E98F-4B8C-82FD-F29D9EB1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首次尝试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93D6A8-04D4-43B1-AD4F-B49ABE35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新手缓存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路线推荐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FE482-5D20-4431-B089-39ECEEE7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478FF0-D249-4DEC-9090-DA9DB2F9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FD8483-1972-4DE1-AD05-2208D882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首次成功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9F7D3-35AB-48BF-979A-219D0F11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DNF 救援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替代缓存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866986-DF13-4304-B68F-99D90656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17925A-0E3D-4F2F-8F47-942950FD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954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5850F6-0D32-4713-A3DF-714697C5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连续体验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1B52D1-6BD0-4656-A238-F856BB89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3 / 5 / 10 找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阶段进度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C5213A-A91D-4897-91B1-42B5BDA7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BBE554-BFF1-4E91-ACF0-4F370561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6954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1EC414-845E-4146-A58F-7DF91445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周期回归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217419-D333-40E8-BD81-E2E3B66A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假期与天气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低频召回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CAA942-6A0B-41F7-92D7-64348EF4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028000-3024-4312-8110-D1F4ADD8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核心原则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F86160-3E06-44BB-82CA-A58B6D23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720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每一步只解决一个阻力：不知道怎么玩、第一次失败、缺少下一目标、长期没有合适时机。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5E3196-B29B-4CA6-B607-9A68B35F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410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视频传播前准备承接内容，传播后重点监控首次尝试到首次成功的转化。</a:t>
            </a:r>
          </a:p>
        </p:txBody>
      </p:sp>
    </p:spTree>
    <p:extLst>
      <p:ext uri="{BB962C8B-B14F-4D97-AF65-F5344CB8AC3E}">
        <p14:creationId xmlns:p14="http://schemas.microsoft.com/office/powerpoint/2010/main" val="1510415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B3809C-7E95-4D1E-A365-EF95801A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5D303-F0EA-43BE-94D0-F41346EB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未来 90 天的管理议程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51AC7-86E3-4583-96DC-1751CB89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先修复转化断点，再决定是否扩大内容投放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68650-0909-49B0-BADA-F3C35B75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5B40D-5863-4DED-B3D9-35AD2F53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C394E8-0C9B-4591-B24B-DFB2EB24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优先事项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9F905-C62F-4B1F-A179-160BE74C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430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具体动作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82BAD2-1A68-4345-AE3B-8E50C5BC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43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管理指标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48F18-D696-4968-AA20-23148483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新手承接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9A710-8564-450D-8F03-58B6BAC2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478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建立重点城市的新手路线和可用缓存清单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9AB016-85EE-4DE4-8111-63489252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478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首次成功率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8F2E54-31CB-435F-88A5-C346897A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33AE9D-6E7C-4F9F-81B4-2928F948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失败恢复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56E389-D082-4068-A18B-B6ED1664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241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 DNF 后推荐附近更容易的替代缓存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815C6C-DB44-4C35-B045-D55C3016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241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30 天恢复率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662ED8-5DD0-4952-B0DF-23E6B0B7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FB48FA-E980-4C7F-8409-EC32F3AB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深度推进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B57B5A-1C36-4F2C-85B1-3305F55E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004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为 1–9 找用户设计 3 / 5 / 10 找阶段任务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C84343-B147-4F33-B480-0CF26D2F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004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早期深度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CEED21-777E-42EE-9475-D26BC900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BE6103-0A34-480D-A228-6785F06B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渠道验证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2CC1E1-A17B-4F2D-91DF-D8359FF4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767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记录来源、内容曝光和推荐展示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19B27B-989A-4206-85D5-A8214025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76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渠道质量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08CC7D-A34D-4129-A848-FA644706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626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4113CF-9CA6-4E94-B551-6B9EE96D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5312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决策边界：当前证据支持优先改善承接，但尚不足以计算视频渠道 ROI。</a:t>
            </a:r>
          </a:p>
        </p:txBody>
      </p:sp>
    </p:spTree>
    <p:extLst>
      <p:ext uri="{BB962C8B-B14F-4D97-AF65-F5344CB8AC3E}">
        <p14:creationId xmlns:p14="http://schemas.microsoft.com/office/powerpoint/2010/main" val="11099449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2026-09-12T07:56:36.4780000Z</dcterms:created>
  <dcterms:modified xsi:type="dcterms:W3CDTF">2026-09-12T07:56:36.4790000Z</dcterms:modified>
</coreProperties>
</file>