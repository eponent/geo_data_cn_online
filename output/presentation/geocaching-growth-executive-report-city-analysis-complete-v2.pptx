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01e1b38b9e4025" /><Relationship Type="http://schemas.openxmlformats.org/officeDocument/2006/relationships/extended-properties" Target="/docProps/app.xml" Id="R77039543d26149b9" /><Relationship Type="http://schemas.openxmlformats.org/officeDocument/2006/relationships/officeDocument" Target="/ppt/presentation.xml" Id="R2eee59e4dfcb42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1e81203bf4830"/>
  </p:sldMasterIdLst>
  <p:notesMasterIdLst>
    <p:notesMasterId xmlns:r="http://schemas.openxmlformats.org/officeDocument/2006/relationships" r:id="R4a4ccfa8c9f3475e"/>
  </p:notesMasterIdLst>
  <p:sldIdLst>
    <p:sldId xmlns:r="http://schemas.openxmlformats.org/officeDocument/2006/relationships" id="256" r:id="R6950022b31da4b6e"/>
    <p:sldId xmlns:r="http://schemas.openxmlformats.org/officeDocument/2006/relationships" id="257" r:id="R1cc8953137274854"/>
    <p:sldId xmlns:r="http://schemas.openxmlformats.org/officeDocument/2006/relationships" id="258" r:id="R248fc479115449d4"/>
    <p:sldId xmlns:r="http://schemas.openxmlformats.org/officeDocument/2006/relationships" id="259" r:id="Rcc124aa300ac43fa"/>
    <p:sldId xmlns:r="http://schemas.openxmlformats.org/officeDocument/2006/relationships" id="260" r:id="Rb2ce942343a74292"/>
    <p:sldId xmlns:r="http://schemas.openxmlformats.org/officeDocument/2006/relationships" id="261" r:id="R0ad91363ab874161"/>
    <p:sldId xmlns:r="http://schemas.openxmlformats.org/officeDocument/2006/relationships" id="262" r:id="R6fbd17f4ba0543f5"/>
    <p:sldId xmlns:r="http://schemas.openxmlformats.org/officeDocument/2006/relationships" id="263" r:id="Rd3cd8b1536d645ad"/>
    <p:sldId xmlns:r="http://schemas.openxmlformats.org/officeDocument/2006/relationships" id="264" r:id="R30b992de4e234b50"/>
    <p:sldId xmlns:r="http://schemas.openxmlformats.org/officeDocument/2006/relationships" id="265" r:id="R4e1844387feb4407"/>
    <p:sldId xmlns:r="http://schemas.openxmlformats.org/officeDocument/2006/relationships" id="266" r:id="R31ff92ab4ca9416c"/>
    <p:sldId xmlns:r="http://schemas.openxmlformats.org/officeDocument/2006/relationships" id="267" r:id="R34821314a8b54df5"/>
    <p:sldId xmlns:r="http://schemas.openxmlformats.org/officeDocument/2006/relationships" id="268" r:id="Rcf06299a4c5444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8184885314bea" /><Relationship Type="http://schemas.openxmlformats.org/officeDocument/2006/relationships/slideMaster" Target="/ppt/slideMasters/slideMaster1.xml" Id="R5fd1e81203bf4830" /><Relationship Type="http://schemas.openxmlformats.org/officeDocument/2006/relationships/notesMaster" Target="/ppt/notesMasters/notesMaster1.xml" Id="R4a4ccfa8c9f3475e" /><Relationship Type="http://schemas.openxmlformats.org/officeDocument/2006/relationships/presProps" Target="/ppt/presProps.xml" Id="R6b5d1d9d1830475a" /><Relationship Type="http://schemas.openxmlformats.org/officeDocument/2006/relationships/tableStyles" Target="/ppt/tableStyles.xml" Id="R7203ce069d0c4461" /><Relationship Type="http://schemas.openxmlformats.org/officeDocument/2006/relationships/slide" Target="/ppt/slides/slide1.xml" Id="R6950022b31da4b6e" /><Relationship Type="http://schemas.openxmlformats.org/officeDocument/2006/relationships/slide" Target="/ppt/slides/slide2.xml" Id="R1cc8953137274854" /><Relationship Type="http://schemas.openxmlformats.org/officeDocument/2006/relationships/slide" Target="/ppt/slides/slide3.xml" Id="R248fc479115449d4" /><Relationship Type="http://schemas.openxmlformats.org/officeDocument/2006/relationships/slide" Target="/ppt/slides/slide4.xml" Id="Rcc124aa300ac43fa" /><Relationship Type="http://schemas.openxmlformats.org/officeDocument/2006/relationships/slide" Target="/ppt/slides/slide5.xml" Id="Rb2ce942343a74292" /><Relationship Type="http://schemas.openxmlformats.org/officeDocument/2006/relationships/slide" Target="/ppt/slides/slide6.xml" Id="R0ad91363ab874161" /><Relationship Type="http://schemas.openxmlformats.org/officeDocument/2006/relationships/slide" Target="/ppt/slides/slide7.xml" Id="R6fbd17f4ba0543f5" /><Relationship Type="http://schemas.openxmlformats.org/officeDocument/2006/relationships/slide" Target="/ppt/slides/slide8.xml" Id="Rd3cd8b1536d645ad" /><Relationship Type="http://schemas.openxmlformats.org/officeDocument/2006/relationships/slide" Target="/ppt/slides/slide9.xml" Id="R30b992de4e234b50" /><Relationship Type="http://schemas.openxmlformats.org/officeDocument/2006/relationships/slide" Target="/ppt/slides/slide10.xml" Id="R4e1844387feb4407" /><Relationship Type="http://schemas.openxmlformats.org/officeDocument/2006/relationships/slide" Target="/ppt/slides/slide11.xml" Id="R31ff92ab4ca9416c" /><Relationship Type="http://schemas.openxmlformats.org/officeDocument/2006/relationships/slide" Target="/ppt/slides/slide12.xml" Id="R34821314a8b54df5" /><Relationship Type="http://schemas.openxmlformats.org/officeDocument/2006/relationships/slide" Target="/ppt/slides/slide13.xml" Id="Rcf06299a4c5444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c9f4f6c244d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0c46fe3f8e4383" /><Relationship Type="http://schemas.openxmlformats.org/officeDocument/2006/relationships/notesMaster" Target="/ppt/notesMasters/notesMaster1.xml" Id="R8f00e7746f724c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759b6be7ee416a" /><Relationship Type="http://schemas.openxmlformats.org/officeDocument/2006/relationships/notesMaster" Target="/ppt/notesMasters/notesMaster1.xml" Id="R9806c6f05b4141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7f6eeff4ef4662" /><Relationship Type="http://schemas.openxmlformats.org/officeDocument/2006/relationships/notesMaster" Target="/ppt/notesMasters/notesMaster1.xml" Id="R72e855c0957c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d01101ba6e45ab" /><Relationship Type="http://schemas.openxmlformats.org/officeDocument/2006/relationships/notesMaster" Target="/ppt/notesMasters/notesMaster1.xml" Id="Rfb1f2ea42be54b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c0b7de190741b7" /><Relationship Type="http://schemas.openxmlformats.org/officeDocument/2006/relationships/notesMaster" Target="/ppt/notesMasters/notesMaster1.xml" Id="Rd406181d77844d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7700c466a647cb" /><Relationship Type="http://schemas.openxmlformats.org/officeDocument/2006/relationships/notesMaster" Target="/ppt/notesMasters/notesMaster1.xml" Id="R1d86a4861b6c49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d0ac779534402" /><Relationship Type="http://schemas.openxmlformats.org/officeDocument/2006/relationships/notesMaster" Target="/ppt/notesMasters/notesMaster1.xml" Id="R482e54f92ad0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74e1b599354cbe" /><Relationship Type="http://schemas.openxmlformats.org/officeDocument/2006/relationships/notesMaster" Target="/ppt/notesMasters/notesMaster1.xml" Id="R10f7383b7ff140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ce51afdee4f18" /><Relationship Type="http://schemas.openxmlformats.org/officeDocument/2006/relationships/notesMaster" Target="/ppt/notesMasters/notesMaster1.xml" Id="Rd8a19870057947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8cf8a41b0f4e1d" /><Relationship Type="http://schemas.openxmlformats.org/officeDocument/2006/relationships/notesMaster" Target="/ppt/notesMasters/notesMaster1.xml" Id="R51167ea7248e4a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5093380d944925" /><Relationship Type="http://schemas.openxmlformats.org/officeDocument/2006/relationships/notesMaster" Target="/ppt/notesMasters/notesMaster1.xml" Id="R63c3beb385c942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71653941f04113" /><Relationship Type="http://schemas.openxmlformats.org/officeDocument/2006/relationships/notesMaster" Target="/ppt/notesMasters/notesMaster1.xml" Id="R885657c3d9b543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6a3bb3892d4e93" /><Relationship Type="http://schemas.openxmlformats.org/officeDocument/2006/relationships/notesMaster" Target="/ppt/notesMasters/notesMaster1.xml" Id="R019a0a1c652f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数据来源：analysis/cohort-dashboard/cohort_dashboard_data.json，as-of 2026-09-10。城市按首次活动日志坐标归属；同日多城市用户单列为数据口径提示。Top 6 共 2,406 人，占 3,829 名 China 有效用户的 62.8%。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数据来源同前页。E30、EM3 均以首次活动日为锚点。广州样本 479 人，多个漏斗层级一致领先；杭州样本 180 人，成功率高但深度弱。西安 E30 Found 86.0%、EM3 2.0%，但 E30 可观察样本仅 58 人，需谨慎解读。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视频窗口为 2025-08-06 至 2025-08-13；相邻月份为 2025-05 至 07 月及 09 至 11 月。窗口长度不同，只比较率，不比较人数。四个头部城市方向一致，支持渠道 cohort 重塑城市表面指标的解释，但该比较仍是观察性证据，不能单独证明因果。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cfbe4b1f3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695579f664382" /><Relationship Type="http://schemas.openxmlformats.org/officeDocument/2006/relationships/slideLayout" Target="/ppt/slideLayouts/slideLayout1.xml" Id="R1b6299814d844e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6299814d844e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b46c42f244480" /><Relationship Type="http://schemas.openxmlformats.org/officeDocument/2006/relationships/notesSlide" Target="/ppt/notesSlides/notesSlide1.xml" Id="R641496f168b443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81ac1cdc546b1" /><Relationship Type="http://schemas.openxmlformats.org/officeDocument/2006/relationships/notesSlide" Target="/ppt/notesSlides/notesSlide2.xml" Id="R13bdca18e638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86078153340cd" /><Relationship Type="http://schemas.openxmlformats.org/officeDocument/2006/relationships/chart" Target="/ppt/slides/charts/chart1.xml" Id="R78013b3d1ef8475c" /><Relationship Type="http://schemas.openxmlformats.org/officeDocument/2006/relationships/notesSlide" Target="/ppt/notesSlides/notesSlide3.xml" Id="R1750f864f52a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3cf29f73a444c" /><Relationship Type="http://schemas.openxmlformats.org/officeDocument/2006/relationships/chart" Target="/ppt/slides/charts/chart2.xml" Id="R766bb827fb2647b3" /><Relationship Type="http://schemas.openxmlformats.org/officeDocument/2006/relationships/notesSlide" Target="/ppt/notesSlides/notesSlide4.xml" Id="R8f9cb4d1cf354a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4f425df6a4fea" /><Relationship Type="http://schemas.openxmlformats.org/officeDocument/2006/relationships/chart" Target="/ppt/slides/charts/chart3.xml" Id="R4e44b1841ebd4a17" /><Relationship Type="http://schemas.openxmlformats.org/officeDocument/2006/relationships/notesSlide" Target="/ppt/notesSlides/notesSlide5.xml" Id="R358e6dc0827c4c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a9288e5fb4d40" /><Relationship Type="http://schemas.openxmlformats.org/officeDocument/2006/relationships/chart" Target="/ppt/slides/charts/chart4.xml" Id="R92709ecdaa2f4b59" /><Relationship Type="http://schemas.openxmlformats.org/officeDocument/2006/relationships/notesSlide" Target="/ppt/notesSlides/notesSlide6.xml" Id="R4aca087c797f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016766e4d43ad" /><Relationship Type="http://schemas.openxmlformats.org/officeDocument/2006/relationships/chart" Target="/ppt/slides/charts/chart5.xml" Id="R4d53803a1f7f468f" /><Relationship Type="http://schemas.openxmlformats.org/officeDocument/2006/relationships/notesSlide" Target="/ppt/notesSlides/notesSlide7.xml" Id="R83af4b4bd3084e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d73c84f3a442f" /><Relationship Type="http://schemas.openxmlformats.org/officeDocument/2006/relationships/chart" Target="/ppt/slides/charts/chart6.xml" Id="R3c39ed7b1f0942f6" /><Relationship Type="http://schemas.openxmlformats.org/officeDocument/2006/relationships/notesSlide" Target="/ppt/notesSlides/notesSlide8.xml" Id="R157e7c90c09a4d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2ccd03ea7429c" /><Relationship Type="http://schemas.openxmlformats.org/officeDocument/2006/relationships/chart" Target="/ppt/slides/charts/chart7.xml" Id="Rde77de8e146848af" /><Relationship Type="http://schemas.openxmlformats.org/officeDocument/2006/relationships/notesSlide" Target="/ppt/notesSlides/notesSlide9.xml" Id="R7b93b3be275b4a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1c57c7594964" /><Relationship Type="http://schemas.openxmlformats.org/officeDocument/2006/relationships/chart" Target="/ppt/slides/charts/chart8.xml" Id="R9d571bedd2554118" /><Relationship Type="http://schemas.openxmlformats.org/officeDocument/2006/relationships/notesSlide" Target="/ppt/notesSlides/notesSlide10.xml" Id="R4a87ea09dd3d49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76e6071874ceb" /><Relationship Type="http://schemas.openxmlformats.org/officeDocument/2006/relationships/chart" Target="/ppt/slides/charts/chart9.xml" Id="Rcde9866336724b01" /><Relationship Type="http://schemas.openxmlformats.org/officeDocument/2006/relationships/chart" Target="/ppt/slides/charts/chart10.xml" Id="Rbfc983ec1bd24868" /><Relationship Type="http://schemas.openxmlformats.org/officeDocument/2006/relationships/notesSlide" Target="/ppt/notesSlides/notesSlide11.xml" Id="R1b01397f5dc143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5ce7e8c6c429a" /><Relationship Type="http://schemas.openxmlformats.org/officeDocument/2006/relationships/notesSlide" Target="/ppt/notesSlides/notesSlide12.xml" Id="R161cb4038d8744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73af117040ac" /><Relationship Type="http://schemas.openxmlformats.org/officeDocument/2006/relationships/notesSlide" Target="/ppt/notesSlides/notesSlide13.xml" Id="R574707d5550c4c1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56082"/>
            </a:solidFill>
          </c:spPr>
          <c:cat>
            <c:numLit>
              <c:formatCode>General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General</c:formatCode>
              <c:ptCount val="2"/>
              <c:pt idx="0">
                <c:v>2510</c:v>
              </c:pt>
              <c:pt idx="1">
                <c:v>4478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E9713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96B2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96B24"/>
              </a:solidFill>
            </c:spPr>
          </c:dPt>
          <c:cat>
            <c:strLit>
              <c:ptCount val="4"/>
              <c:pt idx="0">
                <c:v>2023 发布前</c:v>
              </c:pt>
              <c:pt idx="1">
                <c:v>2023 发布后</c:v>
              </c:pt>
              <c:pt idx="2">
                <c:v>2025 发布前</c:v>
              </c:pt>
              <c:pt idx="3">
                <c:v>2025 高播放窗口</c:v>
              </c:pt>
            </c:strLit>
          </c:cat>
          <c:val>
            <c:numLit>
              <c:formatCode>General</c:formatCode>
              <c:ptCount val="4"/>
              <c:pt idx="0">
                <c:v>5.1</c:v>
              </c:pt>
              <c:pt idx="1">
                <c:v>35.1</c:v>
              </c:pt>
              <c:pt idx="2">
                <c:v>7.7</c:v>
              </c:pt>
              <c:pt idx="3">
                <c:v>77.9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97132"/>
            </a:solidFill>
          </c:spPr>
          <c:cat>
            <c:strLit>
              <c:ptCount val="5"/>
              <c:pt idx="0">
                <c:v>至少 10 找</c:v>
              </c:pt>
              <c:pt idx="1">
                <c:v>至少 5 找</c:v>
              </c:pt>
              <c:pt idx="2">
                <c:v>至少 3 找</c:v>
              </c:pt>
              <c:pt idx="3">
                <c:v>至少 1 找</c:v>
              </c:pt>
              <c:pt idx="4">
                <c:v>有行动</c:v>
              </c:pt>
            </c:strLit>
          </c:cat>
          <c:val>
            <c:numLit>
              <c:formatCode>0.0%</c:formatCode>
              <c:ptCount val="5"/>
              <c:pt idx="0">
                <c:v>0.021</c:v>
              </c:pt>
              <c:pt idx="1">
                <c:v>0.068</c:v>
              </c:pt>
              <c:pt idx="2">
                <c:v>0.136</c:v>
              </c:pt>
              <c:pt idx="3">
                <c:v>0.56</c:v>
              </c:pt>
              <c:pt idx="4">
                <c:v>0.826</c:v>
              </c:pt>
            </c:numLit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56082"/>
            </a:solidFill>
          </c:spPr>
          <c:cat>
            <c:strLit>
              <c:ptCount val="5"/>
              <c:pt idx="0">
                <c:v>至少 10 找</c:v>
              </c:pt>
              <c:pt idx="1">
                <c:v>至少 5 找</c:v>
              </c:pt>
              <c:pt idx="2">
                <c:v>至少 3 找</c:v>
              </c:pt>
              <c:pt idx="3">
                <c:v>至少 1 找</c:v>
              </c:pt>
              <c:pt idx="4">
                <c:v>有行动</c:v>
              </c:pt>
            </c:strLit>
          </c:cat>
          <c:val>
            <c:numLit>
              <c:formatCode>0.0%</c:formatCode>
              <c:ptCount val="5"/>
              <c:pt idx="0">
                <c:v>0.047</c:v>
              </c:pt>
              <c:pt idx="1">
                <c:v>0.126</c:v>
              </c:pt>
              <c:pt idx="2">
                <c:v>0.173</c:v>
              </c:pt>
              <c:pt idx="3">
                <c:v>0.628</c:v>
              </c:pt>
              <c:pt idx="4">
                <c:v>0.751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25466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15608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94F4F"/>
              </a:solidFill>
            </c:spPr>
          </c:dPt>
          <c:cat>
            <c:strLit>
              <c:ptCount val="2"/>
              <c:pt idx="0">
                <c:v>视频窗口</c:v>
              </c:pt>
              <c:pt idx="1">
                <c:v>相邻月份</c:v>
              </c:pt>
            </c:strLit>
          </c:cat>
          <c:val>
            <c:numLit>
              <c:formatCode>0.0%</c:formatCode>
              <c:ptCount val="2"/>
              <c:pt idx="0">
                <c:v>0.358</c:v>
              </c:pt>
              <c:pt idx="1">
                <c:v>0.538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A8B5C2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Lit>
              <c:ptCount val="3"/>
              <c:pt idx="0">
                <c:v>0 找</c:v>
              </c:pt>
              <c:pt idx="1">
                <c:v>1–9 找</c:v>
              </c:pt>
              <c:pt idx="2">
                <c:v>10+ 找</c:v>
              </c:pt>
            </c:strLit>
          </c:cat>
          <c:val>
            <c:numLit>
              <c:formatCode>0.0%</c:formatCode>
              <c:ptCount val="3"/>
              <c:pt idx="0">
                <c:v>0.042</c:v>
              </c:pt>
              <c:pt idx="1">
                <c:v>0.034</c:v>
              </c:pt>
              <c:pt idx="2">
                <c:v>0.218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5C2"/>
            </a:solidFill>
          </c:spPr>
          <c:cat>
            <c:numLit>
              <c:formatCode>0%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0.0%</c:formatCode>
              <c:ptCount val="2"/>
              <c:pt idx="0">
                <c:v>0.311</c:v>
              </c:pt>
              <c:pt idx="1">
                <c:v>0.232</c:v>
              </c:pt>
            </c:numLit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56082"/>
            </a:solidFill>
          </c:spPr>
          <c:cat>
            <c:numLit>
              <c:formatCode>0%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0.0%</c:formatCode>
              <c:ptCount val="2"/>
              <c:pt idx="0">
                <c:v>0.602</c:v>
              </c:pt>
              <c:pt idx="1">
                <c:v>0.672</c:v>
              </c:pt>
            </c:numLit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97132"/>
            </a:solidFill>
          </c:spPr>
          <c:cat>
            <c:numLit>
              <c:formatCode>0%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0.0%</c:formatCode>
              <c:ptCount val="2"/>
              <c:pt idx="0">
                <c:v>0.087</c:v>
              </c:pt>
              <c:pt idx="1">
                <c:v>0.096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25466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用户数</c:v>
          </c:tx>
          <c:spPr>
            <a:solidFill xmlns:a="http://schemas.openxmlformats.org/drawingml/2006/main">
              <a:srgbClr val="156082"/>
            </a:solidFill>
          </c:spPr>
          <c:cat>
            <c:strLit>
              <c:ptCount val="6"/>
              <c:pt idx="0">
                <c:v>杭州</c:v>
              </c:pt>
              <c:pt idx="1">
                <c:v>成都</c:v>
              </c:pt>
              <c:pt idx="2">
                <c:v>深圳</c:v>
              </c:pt>
              <c:pt idx="3">
                <c:v>广州</c:v>
              </c:pt>
              <c:pt idx="4">
                <c:v>上海</c:v>
              </c:pt>
              <c:pt idx="5">
                <c:v>北京</c:v>
              </c:pt>
            </c:strLit>
          </c:cat>
          <c:val>
            <c:numLit>
              <c:formatCode>General</c:formatCode>
              <c:ptCount val="6"/>
              <c:pt idx="0">
                <c:v>180</c:v>
              </c:pt>
              <c:pt idx="1">
                <c:v>182</c:v>
              </c:pt>
              <c:pt idx="2">
                <c:v>264</c:v>
              </c:pt>
              <c:pt idx="3">
                <c:v>479</c:v>
              </c:pt>
              <c:pt idx="4">
                <c:v>526</c:v>
              </c:pt>
              <c:pt idx="5">
                <c:v>775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E30 Found 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042"/>
              </a:solidFill>
              <a:latin typeface="Noto Sans SC"/>
              <a:ea typeface="Noto Sans SC"/>
              <a:cs typeface="Noto Sans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E30 Found</c:v>
          </c:tx>
          <c:spPr>
            <a:solidFill xmlns:a="http://schemas.openxmlformats.org/drawingml/2006/main">
              <a:srgbClr val="0F9ED5"/>
            </a:solidFill>
          </c:spPr>
          <c:cat>
            <c:strLit>
              <c:ptCount val="6"/>
              <c:pt idx="0">
                <c:v>杭州</c:v>
              </c:pt>
              <c:pt idx="1">
                <c:v>成都</c:v>
              </c:pt>
              <c:pt idx="2">
                <c:v>深圳</c:v>
              </c:pt>
              <c:pt idx="3">
                <c:v>广州</c:v>
              </c:pt>
              <c:pt idx="4">
                <c:v>上海</c:v>
              </c:pt>
              <c:pt idx="5">
                <c:v>北京</c:v>
              </c:pt>
            </c:strLit>
          </c:cat>
          <c:val>
            <c:numLit>
              <c:formatCode>0.0"%"</c:formatCode>
              <c:ptCount val="6"/>
              <c:pt idx="0">
                <c:v>84.6</c:v>
              </c:pt>
              <c:pt idx="1">
                <c:v>77.1</c:v>
              </c:pt>
              <c:pt idx="2">
                <c:v>73.5</c:v>
              </c:pt>
              <c:pt idx="3">
                <c:v>85.1</c:v>
              </c:pt>
              <c:pt idx="4">
                <c:v>81.4</c:v>
              </c:pt>
              <c:pt idx="5">
                <c:v>79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首日仅 DNF 无 Found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042"/>
              </a:solidFill>
              <a:latin typeface="Noto Sans SC"/>
              <a:ea typeface="Noto Sans SC"/>
              <a:cs typeface="Noto Sans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97132"/>
            </a:solidFill>
          </c:spPr>
          <c:cat>
            <c:strLit>
              <c:ptCount val="4"/>
              <c:pt idx="0">
                <c:v>深圳</c:v>
              </c:pt>
              <c:pt idx="1">
                <c:v>广州</c:v>
              </c:pt>
              <c:pt idx="2">
                <c:v>上海</c:v>
              </c:pt>
              <c:pt idx="3">
                <c:v>北京</c:v>
              </c:pt>
            </c:strLit>
          </c:cat>
          <c:val>
            <c:numLit>
              <c:formatCode>0.0"%"</c:formatCode>
              <c:ptCount val="4"/>
              <c:pt idx="0">
                <c:v>48.7</c:v>
              </c:pt>
              <c:pt idx="1">
                <c:v>51.2</c:v>
              </c:pt>
              <c:pt idx="2">
                <c:v>34.2</c:v>
              </c:pt>
              <c:pt idx="3">
                <c:v>37.1</c:v>
              </c:pt>
            </c:numLit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56082"/>
            </a:solidFill>
          </c:spPr>
          <c:cat>
            <c:strLit>
              <c:ptCount val="4"/>
              <c:pt idx="0">
                <c:v>深圳</c:v>
              </c:pt>
              <c:pt idx="1">
                <c:v>广州</c:v>
              </c:pt>
              <c:pt idx="2">
                <c:v>上海</c:v>
              </c:pt>
              <c:pt idx="3">
                <c:v>北京</c:v>
              </c:pt>
            </c:strLit>
          </c:cat>
          <c:val>
            <c:numLit>
              <c:formatCode>0.0"%"</c:formatCode>
              <c:ptCount val="4"/>
              <c:pt idx="0">
                <c:v>19</c:v>
              </c:pt>
              <c:pt idx="1">
                <c:v>17.6</c:v>
              </c:pt>
              <c:pt idx="2">
                <c:v>17.1</c:v>
              </c:pt>
              <c:pt idx="3">
                <c:v>14.9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25466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E30 Found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042"/>
              </a:solidFill>
              <a:latin typeface="Noto Sans SC"/>
              <a:ea typeface="Noto Sans SC"/>
              <a:cs typeface="Noto Sans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97132"/>
            </a:solidFill>
          </c:spPr>
          <c:cat>
            <c:strLit>
              <c:ptCount val="4"/>
              <c:pt idx="0">
                <c:v>深圳</c:v>
              </c:pt>
              <c:pt idx="1">
                <c:v>广州</c:v>
              </c:pt>
              <c:pt idx="2">
                <c:v>上海</c:v>
              </c:pt>
              <c:pt idx="3">
                <c:v>北京</c:v>
              </c:pt>
            </c:strLit>
          </c:cat>
          <c:val>
            <c:numLit>
              <c:formatCode>0.0"%"</c:formatCode>
              <c:ptCount val="4"/>
              <c:pt idx="0">
                <c:v>59</c:v>
              </c:pt>
              <c:pt idx="1">
                <c:v>53.7</c:v>
              </c:pt>
              <c:pt idx="2">
                <c:v>65.8</c:v>
              </c:pt>
              <c:pt idx="3">
                <c:v>70</c:v>
              </c:pt>
            </c:numLit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56082"/>
            </a:solidFill>
          </c:spPr>
          <c:cat>
            <c:strLit>
              <c:ptCount val="4"/>
              <c:pt idx="0">
                <c:v>深圳</c:v>
              </c:pt>
              <c:pt idx="1">
                <c:v>广州</c:v>
              </c:pt>
              <c:pt idx="2">
                <c:v>上海</c:v>
              </c:pt>
              <c:pt idx="3">
                <c:v>北京</c:v>
              </c:pt>
            </c:strLit>
          </c:cat>
          <c:val>
            <c:numLit>
              <c:formatCode>0.0"%"</c:formatCode>
              <c:ptCount val="4"/>
              <c:pt idx="0">
                <c:v>81</c:v>
              </c:pt>
              <c:pt idx="1">
                <c:v>85.3</c:v>
              </c:pt>
              <c:pt idx="2">
                <c:v>85.4</c:v>
              </c:pt>
              <c:pt idx="3">
                <c:v>84.8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042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25466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322B6-9950-4642-9B66-0F36476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C6922-B0DD-4505-A422-2705860E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7BDCD-3B08-460D-8660-84FF398B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1549E-6E1E-4DA5-8379-B6F6C08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B441F-E748-458C-82E8-0EB367D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F7965-57EB-4B0D-91A7-E61E57EC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1167794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2BC65-3655-40D2-A0AD-E32285D9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69ED-4D22-4D94-8A58-548BE3E9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0F6FE-FF05-4F71-AA96-CA754C6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1A843-3C91-46C1-9524-593234C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3DC0E-C4E7-4386-8E39-5F01FBC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0ED6A-E5AB-4DD8-84DF-A3A7318C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7A934-B10E-48BF-A2AE-5B68143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323B4-B27C-4CBC-89AC-1EA046F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4DD4C-27CC-444F-AB71-BF9ED7D7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CA5B8-B052-4FF5-93C9-B362E24C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C5B9B-F3A0-4D36-B64C-8856087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A1931-7F1A-48CE-BE00-1581FA0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DA4F1-4655-4380-A6EB-7CBB223B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F59FC-6A50-41DE-B0FC-202B963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4FED4-8791-44F2-A273-98D9A036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0FEB7-1B73-4BD0-82EA-F247D24B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02736-88D1-46B9-B4F5-53327B98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E5EE9-6D30-4414-96A4-93D43E2C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50DC2-DAC5-4460-B7A4-07B71C06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63FFA-2C70-46D1-8471-FAFA2C34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485367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F5072-8F8B-48EF-BC76-03F20F0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7CD18-97F2-41DB-AA54-FB1A218D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FBCEE-2EAE-4C6C-A942-5955D40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D1EEC-F490-4787-8775-C2C37D07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895D-8462-4E27-AD0C-15E6DF8E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9F156-F070-4904-8676-E4603AC9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24D84-96DC-433A-9EA1-0FEB121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B4202-CE31-4EF1-A3B9-26DE999B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C622-6141-49E4-A480-9D5B2DD2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3D422-F589-4DA1-914C-4514AF6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E559-58A7-4D8F-9DA5-C4976A4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7BCD5-DD01-4A67-B2D9-85BBE80A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FA132-4EEE-459F-8EA3-FB0A57E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CC86A-5C61-4604-871D-48DE486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5644A-6A0F-4261-AB36-6BD807F9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013b3d1ef8475c"/>
          </a:graphicData>
        </a:graphic>
      </p:graphicFrame>
    </p:spTree>
    <p:extLst>
      <p:ext uri="{BB962C8B-B14F-4D97-AF65-F5344CB8AC3E}">
        <p14:creationId xmlns:p14="http://schemas.microsoft.com/office/powerpoint/2010/main" val="1778860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3BFE5-B96B-41CB-8A90-A996FDF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5EED0-050F-47DC-AF93-4B608D4C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DD2EE-E693-48D3-9A3F-7B3243D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5AAD1-7EAB-4EB1-B0E4-C8A5C2F4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7DEAC-CC72-44A7-A089-4F8874A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25EB-AECA-4293-8E68-98775EE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35126-B5FB-4C1E-90BB-F3CC297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CD7DA-3440-478B-940D-A2672454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791DA-8006-4042-BF67-DEFE5859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6bb827fb2647b3"/>
          </a:graphicData>
        </a:graphic>
      </p:graphicFrame>
    </p:spTree>
    <p:extLst>
      <p:ext uri="{BB962C8B-B14F-4D97-AF65-F5344CB8AC3E}">
        <p14:creationId xmlns:p14="http://schemas.microsoft.com/office/powerpoint/2010/main" val="537709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C55AF-A8AA-45DD-A253-737A585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84809-9B60-4D21-892F-D819B00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06FB6-0BC4-4C76-A6A1-7755F409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9ABA-696E-45FF-9516-C89037D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59269-BC71-4928-B7AE-1EFFDEE2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DE485-E5DA-4AE4-8040-FAD8B0D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AD09-E516-4DF9-A599-F731071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44b1841ebd4a17"/>
          </a:graphicData>
        </a:graphic>
      </p:graphicFrame>
    </p:spTree>
    <p:extLst>
      <p:ext uri="{BB962C8B-B14F-4D97-AF65-F5344CB8AC3E}">
        <p14:creationId xmlns:p14="http://schemas.microsoft.com/office/powerpoint/2010/main" val="337782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C19DD-C4D4-47E6-BCEA-98F1A14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BE315-0321-4F03-AC9A-D38556F8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7FF93-5739-45B9-8854-E15BA53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9AC44-F8E1-4EA1-9894-1F4C9B37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7B424-AF95-4E3B-A8A8-A80832E5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037C6-A521-4645-90FA-0369E0D2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25B2-5F8E-4463-B4C4-ED1B4F5A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4528-17D2-4B57-AE59-B5AE0F2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B9003-586B-4DF1-A7A6-4B7D6B9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F4141-3FAE-4107-9162-E5C52660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872C7-4873-401C-9795-8B3AE11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709ecdaa2f4b59"/>
          </a:graphicData>
        </a:graphic>
      </p:graphicFrame>
    </p:spTree>
    <p:extLst>
      <p:ext uri="{BB962C8B-B14F-4D97-AF65-F5344CB8AC3E}">
        <p14:creationId xmlns:p14="http://schemas.microsoft.com/office/powerpoint/2010/main" val="1669052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E6978-785B-4164-9EC1-8C32503D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68C35-6035-4AF5-AAD4-1626299E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DB378-9EE4-4E5D-BD6C-5CBE319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53890-05E0-4EC4-9E46-296B279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C1A7D-BB79-41C4-810D-7817E539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716C4-503D-435D-8A61-9D3E7D4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623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DFE32-2235-4E63-A885-22928FD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C96FD-16ED-4988-8D87-9552184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1F62E-2FA3-475B-87A1-2A468993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AEAC0-2A27-4A80-99AA-1DD0A003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8B576-21B1-40DD-9B4A-598D06C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CE1A2-35DA-45C9-AC5D-5CBA8A30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851B1-0745-432B-9517-615B84C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3803a1f7f468f"/>
          </a:graphicData>
        </a:graphic>
      </p:graphicFrame>
    </p:spTree>
    <p:extLst>
      <p:ext uri="{BB962C8B-B14F-4D97-AF65-F5344CB8AC3E}">
        <p14:creationId xmlns:p14="http://schemas.microsoft.com/office/powerpoint/2010/main" val="1802206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A1381-A9F2-497C-9F3A-614E429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ACE08-0569-49BA-9F55-DA8E5A6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9D901-47BC-40CF-8F78-756A1A79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9B178-13B7-4E94-8244-8B3D9EBE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A65E5-A271-4014-9E95-5AFFC959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A6089-EF59-4EFE-BE72-87478DF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7381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D504C-A450-4ED3-AEEC-724A692E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8E58B-178F-4BDE-B060-D05099E3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A56D0-0262-4985-AA90-B7172B45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39ed7b1f0942f6"/>
          </a:graphicData>
        </a:graphic>
      </p:graphicFrame>
    </p:spTree>
    <p:extLst>
      <p:ext uri="{BB962C8B-B14F-4D97-AF65-F5344CB8AC3E}">
        <p14:creationId xmlns:p14="http://schemas.microsoft.com/office/powerpoint/2010/main" val="10424541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39760-6EE6-4E45-AEE9-81777EBC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186DD-B034-453B-98EC-662AC7A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F71F-033E-4971-8B0E-938E405D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China 用户入口集中在六个城市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65697-8B31-496D-A02F-1EAC7152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B7C8C"/>
                </a:solidFill>
                <a:latin typeface="Noto Sans SC"/>
                <a:ea typeface="Noto Sans SC"/>
                <a:cs typeface="Noto Sans SC"/>
              </a:rPr>
              <a:t>北京、上海、广州、深圳、成都、杭州覆盖 62.8% 的 China 有效用户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2490-52CC-44EA-A39E-F98E3B62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3120F-29E4-4797-BBCD-830684B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2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C8C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6572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77de8e146848a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26C7E-B1B9-4FC5-8F8A-17ABA003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811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1A532-E12D-4979-9955-1C1452A3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6082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56082"/>
                </a:solidFill>
                <a:latin typeface="Noto Sans SC"/>
                <a:ea typeface="Noto Sans SC"/>
                <a:cs typeface="Noto Sans SC"/>
              </a:rPr>
              <a:t>3,829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36343-BE6D-4B80-B6C7-A71E496D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25466"/>
                </a:solidFill>
                <a:latin typeface="Noto Sans SC"/>
                <a:ea typeface="Noto Sans SC"/>
                <a:cs typeface="Noto Sans SC"/>
              </a:rPr>
              <a:t>China 有效用户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2D0E1-E780-43CF-883B-38AD47DF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3,788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50CA4-9D26-40AC-B992-AB10BDF8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25466"/>
                </a:solidFill>
                <a:latin typeface="Noto Sans SC"/>
                <a:ea typeface="Noto Sans SC"/>
                <a:cs typeface="Noto Sans SC"/>
              </a:rPr>
              <a:t>可归入明确城市，占 98.9%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B899D-3BF9-477D-AFC7-BB486E7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112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B1A5C-192A-4D86-BDF5-1D2C170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25466"/>
                </a:solidFill>
                <a:latin typeface="Noto Sans SC"/>
                <a:ea typeface="Noto Sans SC"/>
                <a:cs typeface="Noto Sans SC"/>
              </a:rPr>
              <a:t>个明确城市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2BFA3-BBBA-410D-95A4-3BDCDD45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713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E97132"/>
                </a:solidFill>
                <a:latin typeface="Noto Sans SC"/>
                <a:ea typeface="Noto Sans SC"/>
                <a:cs typeface="Noto Sans SC"/>
              </a:rPr>
              <a:t>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BC5AD-F2C0-4C09-B22F-EE32483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72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25466"/>
                </a:solidFill>
                <a:latin typeface="Noto Sans SC"/>
                <a:ea typeface="Noto Sans SC"/>
                <a:cs typeface="Noto Sans SC"/>
              </a:rPr>
              <a:t>人首次活动日涉及多个城市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7A3B7-7366-4FCD-8B23-4AB55480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864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0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56082"/>
                </a:solidFill>
                <a:latin typeface="Noto Sans SC"/>
                <a:ea typeface="Noto Sans SC"/>
                <a:cs typeface="Noto Sans SC"/>
              </a:rPr>
              <a:t>城市是用户入口的高度集中层级，但仍需拆开看成功、深度和留存。</a:t>
            </a:r>
          </a:p>
        </p:txBody>
      </p:sp>
    </p:spTree>
    <p:extLst>
      <p:ext uri="{BB962C8B-B14F-4D97-AF65-F5344CB8AC3E}">
        <p14:creationId xmlns:p14="http://schemas.microsoft.com/office/powerpoint/2010/main" val="13523121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DD6C3-8101-4883-BAAF-E30D173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A4E6-165C-4E52-9FD8-28BBF81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A43C-D5F2-4D61-8989-76B7D439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城市漏斗在成功、深度和留存上分化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25B3F-DA11-435C-835E-4805BF0A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B7C8C"/>
                </a:solidFill>
                <a:latin typeface="Noto Sans SC"/>
                <a:ea typeface="Noto Sans SC"/>
                <a:cs typeface="Noto Sans SC"/>
              </a:rPr>
              <a:t>首次活动后 30 天成功率较高，也未必形成 10 找或 EM3 活跃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8709B-68B3-4220-A565-EAF8DE97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2C224-1963-4193-8D29-ED9533D8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2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C8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8650" y="1504950"/>
          <a:ext xmlns:a="http://schemas.openxmlformats.org/drawingml/2006/main" cx="5715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571bedd2554118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6629400" y="1619250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4450"/>
                <a:gridCol w="1104900"/>
                <a:gridCol w="1009650"/>
                <a:gridCol w="1428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城市</a:t>
                      </a:r>
                    </a:p>
                  </a:txBody>
                  <a:tcPr marL="91440" marR="91440" marT="45720" marB="4572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E30 10 找</a:t>
                      </a:r>
                    </a:p>
                  </a:txBody>
                  <a:tcPr marL="91440" marR="91440" marT="45720" marB="4572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EM3 活跃</a:t>
                      </a:r>
                    </a:p>
                  </a:txBody>
                  <a:tcPr marL="91440" marR="91440" marT="45720" marB="4572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首日仅 DNF</a:t>
                      </a:r>
                    </a:p>
                  </a:txBody>
                  <a:tcPr marL="91440" marR="91440" marT="45720" marB="45720" anchor="ctr">
                    <a:solidFill>
                      <a:srgbClr val="15608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北京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7.0%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5.6%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24.1%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上海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2.7%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4.3%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22.2%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96B2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广州</a:t>
                      </a:r>
                    </a:p>
                  </a:txBody>
                  <a:tcPr marL="91440" marR="91440" marT="45720" marB="45720" anchor="ctr"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96B2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17.4%</a:t>
                      </a:r>
                    </a:p>
                  </a:txBody>
                  <a:tcPr marL="91440" marR="91440" marT="45720" marB="45720" anchor="ctr"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96B2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10.1%</a:t>
                      </a:r>
                    </a:p>
                  </a:txBody>
                  <a:tcPr marL="91440" marR="91440" marT="45720" marB="45720" anchor="ctr"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96B2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16.7%</a:t>
                      </a:r>
                    </a:p>
                  </a:txBody>
                  <a:tcPr marL="91440" marR="91440" marT="45720" marB="45720" anchor="ctr">
                    <a:solidFill>
                      <a:srgbClr val="E8F3E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深圳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9.2%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5.6%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29.5%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成都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3.9%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26.4%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杭州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3.4%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8.3%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42546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18.9%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1F318-6AA6-4AB2-AB7C-43127D8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625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6B2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6B24"/>
                </a:solidFill>
                <a:latin typeface="Noto Sans SC"/>
                <a:ea typeface="Noto Sans SC"/>
                <a:cs typeface="Noto Sans SC"/>
              </a:rPr>
              <a:t>广州：成功、深度和留存同时领先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46AA7-2552-4EF1-8557-41831388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13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97132"/>
                </a:solidFill>
                <a:latin typeface="Noto Sans SC"/>
                <a:ea typeface="Noto Sans SC"/>
                <a:cs typeface="Noto Sans SC"/>
              </a:rPr>
              <a:t>杭州：E30 成功率 84.6%，但 10 找仅 3.4%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9F595-53B4-419C-B415-C955739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912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46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25466"/>
                </a:solidFill>
                <a:latin typeface="Noto Sans SC"/>
                <a:ea typeface="Noto Sans SC"/>
                <a:cs typeface="Noto Sans SC"/>
              </a:rPr>
              <a:t>结论：不要用单一成功率代表城市 cohort 质量。</a:t>
            </a:r>
          </a:p>
        </p:txBody>
      </p:sp>
    </p:spTree>
    <p:extLst>
      <p:ext uri="{BB962C8B-B14F-4D97-AF65-F5344CB8AC3E}">
        <p14:creationId xmlns:p14="http://schemas.microsoft.com/office/powerpoint/2010/main" val="182088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5AE6F-866D-4967-84AE-5E3A68A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A0074-76C7-4D8B-B8E8-612BAA6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339E7-C1A6-4D6E-8DE9-D3973FED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视频窗口在多个城市放大首次失败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A316A-FB6F-4201-9AEF-FFCBC71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B7C8C"/>
                </a:solidFill>
                <a:latin typeface="Noto Sans SC"/>
                <a:ea typeface="Noto Sans SC"/>
                <a:cs typeface="Noto Sans SC"/>
              </a:rPr>
              <a:t>首日仅 DNF 无 Found 上升，E30 成功率在北京、上海、广州、深圳同步下降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C7806-0A7E-4513-893F-E31254C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113EB-4AD0-440E-9508-B333C4C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2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C8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C8C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8650" y="1581150"/>
          <a:ext xmlns:a="http://schemas.openxmlformats.org/drawingml/2006/main" cx="5257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e9866336724b0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305550" y="1581150"/>
          <a:ext xmlns:a="http://schemas.openxmlformats.org/drawingml/2006/main" cx="5257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c983ec1bd2486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CA18E-640C-4C7A-9847-A17DD37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7347C-199D-4DC8-B368-58734DE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60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56082"/>
                </a:solidFill>
                <a:latin typeface="Noto Sans SC"/>
                <a:ea typeface="Noto Sans SC"/>
                <a:cs typeface="Noto Sans SC"/>
              </a:rPr>
              <a:t>窗口总体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917C3-558A-4A66-A5C2-D564D0D9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007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13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97132"/>
                </a:solidFill>
                <a:latin typeface="Noto Sans SC"/>
                <a:ea typeface="Noto Sans SC"/>
                <a:cs typeface="Noto Sans SC"/>
              </a:rPr>
              <a:t>首日仅 DNF  36.1% vs 17.7%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8A668-46A2-4EB7-A18F-E576C85A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007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60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56082"/>
                </a:solidFill>
                <a:latin typeface="Noto Sans SC"/>
                <a:ea typeface="Noto Sans SC"/>
                <a:cs typeface="Noto Sans SC"/>
              </a:rPr>
              <a:t>E30 Found  68.5% vs 84.1%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49118-DF05-4241-88DF-4C2DD0D1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007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30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73042"/>
                </a:solidFill>
                <a:latin typeface="Noto Sans SC"/>
                <a:ea typeface="Noto Sans SC"/>
                <a:cs typeface="Noto Sans SC"/>
              </a:rPr>
              <a:t>更像渠道 cohort 效应</a:t>
            </a:r>
          </a:p>
        </p:txBody>
      </p:sp>
    </p:spTree>
    <p:extLst>
      <p:ext uri="{BB962C8B-B14F-4D97-AF65-F5344CB8AC3E}">
        <p14:creationId xmlns:p14="http://schemas.microsoft.com/office/powerpoint/2010/main" val="1942991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AB101-F0E8-4D66-8BEB-14DED765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2E71C-8D7D-450F-887D-620B4E3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0397E-D817-4D8C-A52E-5893CAE4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50A9-8041-4EA2-BD9C-1BACED6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42C41-E26E-44FF-941A-8D345AC3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DC22-F96F-4EAC-B99C-DCDC692F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091BD-682F-4A71-BC3B-0138FCE4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3EFAC-4E0D-4269-8292-5DBA9834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B0648-3BB5-4446-8DBD-7240C38E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3190-F523-4329-876A-94DE8017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9FEC1-783B-46B7-964E-349E23C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60A37-974F-4D76-A4C2-3172F0A3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C1A6C-4D73-4F7C-9A87-E3616A95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4393E-F652-4C60-9CEE-E7CD316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30649-E2C8-4D53-B24B-6168ED8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47C29-8675-4854-85E0-1F9CFB50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31B7A-CE5A-40B6-9F78-33E0A3EA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76BC0-8876-482B-BD3E-E17E1E2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88568-FC71-49A6-A2C8-353A5AE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01647-AD51-4E82-B58F-385AE46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079A7-BF6E-4E3F-9685-9731B6C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87956-CC8F-4178-9FD7-1EFECA7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C8672-8022-47DF-A8FF-FBFCE300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4427206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44443-B14E-46F1-8C53-9318957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66140-FCD8-40B3-93C4-E99EF7D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FAFAC-E569-4920-954A-25A20F5A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AF1EE-6418-483E-B819-0535DFA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33A76-E9AA-4DB0-888C-5938E1B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151E8-62AB-4AC1-A6E7-003FCF42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E34AF-AD5B-4166-95C2-832B790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4456B-4F88-4869-BFE2-CBA21B4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26A71-A640-4D98-984D-E03282F6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844F1-2841-414F-93F6-7A459ED4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DF3A2-6368-410F-A90F-10C5B6D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2C099-3E36-4604-BCA7-9875F42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765FE-3FC8-4017-B335-CABBB5B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CF53F-848D-4150-8020-1FA83F7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9B04-B4AC-412B-9C35-241C792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65AAC-EF93-4DBB-8730-E1331040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C0535-0EAA-492E-903B-191DCF4F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99EB5-F62E-45BA-8B15-12D55B5C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F1E3F-1343-41EC-914C-7FEC3D23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28BB1-BB42-48C3-89BE-A9656BB9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64B2A-DD20-415B-AAB0-70883CFA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81A9A-D7D7-4863-B285-911DD5D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C1275-F7BB-45D5-8769-0887A9A1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D847B-8F33-4DC4-B562-2C8ED7F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B9D50-1570-4CD2-8322-E6792E90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409216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2026-09-14T03:55:32.4960000Z</dcterms:created>
  <dcterms:modified xsi:type="dcterms:W3CDTF">2026-09-14T03:55:32.4960000Z</dcterms:modified>
</coreProperties>
</file>